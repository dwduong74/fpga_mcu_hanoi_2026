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88952" cy="381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206240"/>
            <a:ext cx="12188952" cy="38100"/>
          </a:xfrm>
          <a:prstGeom prst="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645920" cy="1645920"/>
          </a:xfrm>
          <a:prstGeom prst="rect">
            <a:avLst/>
          </a:prstGeom>
          <a:solidFill>
            <a:srgbClr val="1A4F9A"/>
          </a:solidFill>
          <a:ln w="25400">
            <a:solidFill>
              <a:srgbClr val="00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0B0D8"/>
                </a:solidFill>
                <a:latin typeface="Calibri"/>
              </a:rPr>
              <a:t>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0058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DIGITAL 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00B0D8"/>
                </a:solidFill>
                <a:latin typeface="Calibri"/>
              </a:rPr>
              <a:t>Đồng Hồ Kỹ Thuật Số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06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CCFF"/>
                </a:solidFill>
                <a:latin typeface="Calibri"/>
              </a:rPr>
              <a:t>SN32F407  |  ARM® Cortex®-M0  |  12 MHz IHRC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ADD"/>
                </a:solidFill>
                <a:latin typeface="Calibri"/>
              </a:rPr>
              <a:t>Keil MDK Simulator  ·  LED 7-Segment  ·  I2C EEPROM  ·  PWM Buzzer  ·  WDT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AA"/>
                </a:solidFill>
                <a:latin typeface="Calibri"/>
              </a:rPr>
              <a:t>TRƯỜNG ĐẠI HỌC KỸ THUẬT  |  Môn: Hệ Thống Nhúng  |  2025–2026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Nội Dung Thuyết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Giới thiệu đề bài &amp; yêu cầu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2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Kiến trúc phần cứng — SN32F407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43784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437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Sơ đồ khối hệ thống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02736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0273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941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State Machine — Trái tim của chương trình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61688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616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53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Timer &amp; SysTick — Cơ sở thời gian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39"/>
            <a:ext cx="502920" cy="548640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2063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212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LED 7 Đoạn — Hiển thị Multiplexing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25880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3258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I2C &amp; EEPROM — Lưu trữ không mất dữ liệu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084832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0848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1762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Buzzer PWM — Báo thức bằng phần cứng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43784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8437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9352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Watchdog Timer &amp; An toàn hệ thống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602736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60273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6941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Demo trên Keil Simulator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61688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3616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453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Kết quả &amp; Đánh giá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20639"/>
            <a:ext cx="502920" cy="5486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12063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5212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22"/>
                </a:solidFill>
                <a:latin typeface="Calibri"/>
              </a:rPr>
              <a:t>Hỏi &amp; Đáp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Yêu Cầu Đề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15 tính năng cần thực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577840" cy="5120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71600"/>
            <a:ext cx="5248656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8A3C"/>
                </a:solidFill>
                <a:latin typeface="Calibri"/>
              </a:rPr>
              <a:t>✅ Tính năng đồng hồ &amp; giao diện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Hiển thị giờ:phút trên LED 7 đoạn 4 chữ số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Đếm giờ chính xác — dựa trên SysTick 1ms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Cài đặt giờ bằng phím SETUP + PLUS/MINUS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Cài đặt phút bằng phím SETUP + PLUS/MINUS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Chữ số đang cài nhấp nháy 1Hz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Timeout 30s tự thoát khỏi SET mode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Wrap-around: 23→0, 59→0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LED D0 (P3.8) nhấp nháy mỗi giây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61872"/>
            <a:ext cx="5760720" cy="5120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371600"/>
            <a:ext cx="5431536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55EA8"/>
                </a:solidFill>
                <a:latin typeface="Calibri"/>
              </a:rPr>
              <a:t>✅ Tính năng báo thức &amp; hệ thống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Cài đặt giờ báo thức (SETUP+ALARM)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Cài đặt phút báo thức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Lưu báo thức vào EEPROM AT24C02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Báo thức kêu 5 giây khi đúng giờ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Pip 300ms xác nhận khi nhấn phím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Nhấn phím tắt còi báo thức</a:t>
            </a:r>
          </a:p>
          <a:p>
            <a:pPr algn="l"/>
            <a:r>
              <a:rPr sz="1450">
                <a:solidFill>
                  <a:srgbClr val="111122"/>
                </a:solidFill>
                <a:latin typeface="Calibri"/>
              </a:rPr>
              <a:t>✓ Watchdog Timer — tự reset nếu firmware treo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30936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8A3C"/>
                </a:solidFill>
                <a:latin typeface="Calibri"/>
              </a:rPr>
              <a:t>→ TẤT CẢ 15 YÊU CẦU ĐÃ ĐƯỢC THỰC HIỆN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Kiến Trúc Phần Cứng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SN32F407 — ARM Cortex-M0 @ 12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5669280" cy="5212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F5E"/>
                </a:solidFill>
                <a:latin typeface="Calibri"/>
              </a:rPr>
              <a:t>Thông số SN32F407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783080"/>
            <a:ext cx="563270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562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Lõi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562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ARM Cortex-M0, 32-bit RISC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2331720"/>
            <a:ext cx="5632704" cy="521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04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Clock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04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IHRC 12 MHz (nội bộ, ±5%)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2880360"/>
            <a:ext cx="563270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9535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Flash / 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9535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64 KB / 8 KB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3429000"/>
            <a:ext cx="5632704" cy="521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5021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Timer 16-bit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502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CT16B0, CT16B1 — PWM &amp; đếm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3977639"/>
            <a:ext cx="563270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05079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I2C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0507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I2C0 @ P0.10/P0.11 — giao tiếp EEPROM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4526280"/>
            <a:ext cx="5632704" cy="521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599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GPIO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5994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P0, P1, P3 — segment, COM, LED, phím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5074920"/>
            <a:ext cx="563270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148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Watchdog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1480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WDT nội — timeout ~250ms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5623560"/>
            <a:ext cx="5632704" cy="521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6967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D2F5E"/>
                </a:solidFill>
                <a:latin typeface="Calibri"/>
              </a:rPr>
              <a:t>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6967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LQFP-64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261872"/>
            <a:ext cx="5577840" cy="5212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F5E"/>
                </a:solidFill>
                <a:latin typeface="Calibri"/>
              </a:rPr>
              <a:t>Kết nối ngoại 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1755648"/>
            <a:ext cx="554126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1819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P0.10 / P0.11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18196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181965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I2C0 → AT24C02 EEPROM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7648" y="2276856"/>
            <a:ext cx="5541264" cy="49377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23408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P0.0 – P0.7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3408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234086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GPIO0 → SEG A–H (LED 7 đoạn)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7648" y="2798063"/>
            <a:ext cx="554126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286207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P1.9 – P1.12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2862071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286207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GPIO1 → COM0–COM3 (quét)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3319272"/>
            <a:ext cx="5541264" cy="49377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P3.0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8" y="33832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CT16B0 PWM0 → Buzzer piezo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840479"/>
            <a:ext cx="554126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3904487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P3.8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3904487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3904487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GPIO3 → LED D0 (nhấp nháy)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4361688"/>
            <a:ext cx="5541264" cy="49377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4425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PA.0–PA.3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44256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2208" y="442569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GPIO → Phím SETUP/PLUS/MINUS/ALARM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4882896"/>
            <a:ext cx="554126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9088" y="49469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SysTick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49469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494690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RELOAD=11999, ngắt 1ms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5404104"/>
            <a:ext cx="5541264" cy="49377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5468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CT16B1 MR9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54681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546811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11999 → timer 1ms (MR9 match)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7648" y="5925312"/>
            <a:ext cx="554126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9088" y="5989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55EA8"/>
                </a:solidFill>
                <a:latin typeface="Courier New"/>
              </a:rPr>
              <a:t>CT16B0 MR9/MR0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83879" y="5989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55"/>
                </a:solidFill>
                <a:latin typeface="Calibri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5989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11122"/>
                </a:solidFill>
                <a:latin typeface="Calibri"/>
              </a:rPr>
              <a:t>19999/9999 → buzzer 600Hz 50%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Sơ Đồ Khối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Luồng dữ liệu từ phím bấm đến hiển thị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1737360" cy="777240"/>
          </a:xfrm>
          <a:prstGeom prst="rect">
            <a:avLst/>
          </a:prstGeom>
          <a:solidFill>
            <a:srgbClr val="0D2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45389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Phím Bấm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19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KEY_SCAN()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417320"/>
            <a:ext cx="1737360" cy="777240"/>
          </a:xfrm>
          <a:prstGeom prst="rect">
            <a:avLst/>
          </a:prstGeom>
          <a:solidFill>
            <a:srgbClr val="0D2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45389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SysTick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19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1ms ISR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417320"/>
            <a:ext cx="1737360" cy="777240"/>
          </a:xfrm>
          <a:prstGeom prst="rect">
            <a:avLst/>
          </a:prstGeom>
          <a:solidFill>
            <a:srgbClr val="0D2F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45389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EEPROM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819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AT24C02 I2C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1828800"/>
            <a:ext cx="3337560" cy="109728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97880" y="1828800"/>
            <a:ext cx="0" cy="100584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06640" y="1828800"/>
            <a:ext cx="3337560" cy="109728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89120" y="2834640"/>
            <a:ext cx="2286000" cy="777240"/>
          </a:xfrm>
          <a:prstGeom prst="rect">
            <a:avLst/>
          </a:prstGeom>
          <a:solidFill>
            <a:srgbClr val="155EA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87121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main()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while(1)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371600" y="3611880"/>
            <a:ext cx="3200400" cy="96012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2120" y="3611880"/>
            <a:ext cx="0" cy="96012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92240" y="3611880"/>
            <a:ext cx="3108960" cy="960120"/>
          </a:xfrm>
          <a:prstGeom prst="line">
            <a:avLst/>
          </a:prstGeom>
          <a:ln w="22860">
            <a:solidFill>
              <a:srgbClr val="0D2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2880" y="4572000"/>
            <a:ext cx="1737360" cy="777240"/>
          </a:xfrm>
          <a:prstGeom prst="rect">
            <a:avLst/>
          </a:prstGeom>
          <a:solidFill>
            <a:srgbClr val="0A6A4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460857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State Machine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49743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process_key()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572000"/>
            <a:ext cx="1737360" cy="777240"/>
          </a:xfrm>
          <a:prstGeom prst="rect">
            <a:avLst/>
          </a:prstGeom>
          <a:solidFill>
            <a:srgbClr val="0A6A4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60857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LED 7-Seg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9743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Digital_Scan()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572000"/>
            <a:ext cx="1737360" cy="777240"/>
          </a:xfrm>
          <a:prstGeom prst="rect">
            <a:avLst/>
          </a:prstGeom>
          <a:solidFill>
            <a:srgbClr val="0A6A4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60857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Buzzer PWM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9743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CT16B0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572000"/>
            <a:ext cx="1645920" cy="685800"/>
          </a:xfrm>
          <a:prstGeom prst="rect">
            <a:avLst/>
          </a:prstGeom>
          <a:solidFill>
            <a:srgbClr val="D46B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60857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WDT Feed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74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mỗi vòng lặp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394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55"/>
                </a:solidFill>
                <a:latin typeface="Calibri"/>
              </a:rPr>
              <a:t>HH:MM → 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394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55"/>
                </a:solidFill>
                <a:latin typeface="Calibri"/>
              </a:rPr>
              <a:t>600Hz tone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572000"/>
            <a:ext cx="1371600" cy="685800"/>
          </a:xfrm>
          <a:prstGeom prst="rect">
            <a:avLst/>
          </a:prstGeom>
          <a:solidFill>
            <a:srgbClr val="8B008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60857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LED D0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49743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EEFF"/>
                </a:solidFill>
                <a:latin typeface="Calibri"/>
              </a:rPr>
              <a:t>P3.8 blink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State Machine — Trái Tim Chương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5 trạng thái, chuyển đổi bởi phím SETUP và ALARM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828800"/>
            <a:ext cx="2011680" cy="749808"/>
          </a:xfrm>
          <a:prstGeom prst="rect">
            <a:avLst/>
          </a:prstGeom>
          <a:solidFill>
            <a:srgbClr val="155EA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87452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NORMAL
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2011680" cy="749808"/>
          </a:xfrm>
          <a:prstGeom prst="rect">
            <a:avLst/>
          </a:prstGeom>
          <a:solidFill>
            <a:srgbClr val="1A8A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SET_HOUR
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5120640"/>
            <a:ext cx="2011680" cy="749808"/>
          </a:xfrm>
          <a:prstGeom prst="rect">
            <a:avLst/>
          </a:prstGeom>
          <a:solidFill>
            <a:srgbClr val="1A8A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516636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SET_MIN
(2)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474720"/>
            <a:ext cx="2011680" cy="749808"/>
          </a:xfrm>
          <a:prstGeom prst="rect">
            <a:avLst/>
          </a:prstGeom>
          <a:solidFill>
            <a:srgbClr val="D46B0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52044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SET_ALARM_HOUR
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5120640"/>
            <a:ext cx="2011680" cy="749808"/>
          </a:xfrm>
          <a:prstGeom prst="rect">
            <a:avLst/>
          </a:prstGeom>
          <a:solidFill>
            <a:srgbClr val="D46B0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516636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SET_ALARM_MIN
(4)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61872"/>
            <a:ext cx="3291840" cy="5212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3167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5E"/>
                </a:solidFill>
                <a:latin typeface="Calibri"/>
              </a:rPr>
              <a:t>Bảng chuyển trạng thái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1719072"/>
            <a:ext cx="1051560" cy="347472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17373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48088" y="1719072"/>
            <a:ext cx="960120" cy="347472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1737360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Phím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8208" y="1719072"/>
            <a:ext cx="1143000" cy="347472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8208" y="1737360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Đến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8" y="2084831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3103" y="2148839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NORMAL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48088" y="2084831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3" y="2148839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11122"/>
                </a:solidFill>
                <a:latin typeface="Calibri"/>
              </a:rPr>
              <a:t>SETUP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8208" y="2084831"/>
            <a:ext cx="1143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44784" y="2148839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SET_HOUR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96528" y="2615184"/>
            <a:ext cx="105156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3" y="2679192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SET_HOUR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48088" y="2615184"/>
            <a:ext cx="96012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3" y="2679192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11122"/>
                </a:solidFill>
                <a:latin typeface="Calibri"/>
              </a:rPr>
              <a:t>SETUP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08208" y="2615184"/>
            <a:ext cx="114300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44784" y="2679192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SET_MIN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6528" y="3145535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33103" y="3209543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SET_MIN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48088" y="3145535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4663" y="3209543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11122"/>
                </a:solidFill>
                <a:latin typeface="Calibri"/>
              </a:rPr>
              <a:t>SETUP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08208" y="3145535"/>
            <a:ext cx="1143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44784" y="3209543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NORMAL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96528" y="3675887"/>
            <a:ext cx="105156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3103" y="3739895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NORMAL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48088" y="3675887"/>
            <a:ext cx="96012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84663" y="3739895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B08"/>
                </a:solidFill>
                <a:latin typeface="Calibri"/>
              </a:rPr>
              <a:t>ALARM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8208" y="3675887"/>
            <a:ext cx="114300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44784" y="3739895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6B08"/>
                </a:solidFill>
                <a:latin typeface="Calibri"/>
              </a:rPr>
              <a:t>SET_ALARM_HOUR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96528" y="4206240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33103" y="4270248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6B08"/>
                </a:solidFill>
                <a:latin typeface="Calibri"/>
              </a:rPr>
              <a:t>SET_ALARM_HOUR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48088" y="4206240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84663" y="4270248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B08"/>
                </a:solidFill>
                <a:latin typeface="Calibri"/>
              </a:rPr>
              <a:t>ALARM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08208" y="4206240"/>
            <a:ext cx="1143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44784" y="4270248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6B08"/>
                </a:solidFill>
                <a:latin typeface="Calibri"/>
              </a:rPr>
              <a:t>SET_ALARM_MIN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96528" y="4736592"/>
            <a:ext cx="105156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33103" y="4800600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6B08"/>
                </a:solidFill>
                <a:latin typeface="Calibri"/>
              </a:rPr>
              <a:t>SET_ALARM_MIN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8088" y="4736592"/>
            <a:ext cx="96012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84663" y="4800600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6B08"/>
                </a:solidFill>
                <a:latin typeface="Calibri"/>
              </a:rPr>
              <a:t>ALARM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8208" y="4736592"/>
            <a:ext cx="114300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44784" y="4800600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NORMAL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96528" y="5266944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33103" y="5330952"/>
            <a:ext cx="9784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11122"/>
                </a:solidFill>
                <a:latin typeface="Calibri"/>
              </a:rPr>
              <a:t>Bất kỳ SET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48088" y="5266944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84663" y="5330952"/>
            <a:ext cx="8869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11122"/>
                </a:solidFill>
                <a:latin typeface="Calibri"/>
              </a:rPr>
              <a:t>Timeout 30s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08208" y="5266944"/>
            <a:ext cx="1143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44784" y="5330952"/>
            <a:ext cx="10698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NORMAL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55"/>
                </a:solidFill>
                <a:latin typeface="Calibri"/>
              </a:rPr>
              <a:t>PLUS/MINUS: thay đổi giá trị trong SET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Cơ Sở Thời Gian — SysTick &amp; CT16B1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Tạo tick 1ms — nền tảng của mọi timing trong chương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188720"/>
          </a:xfrm>
          <a:prstGeom prst="rect">
            <a:avLst/>
          </a:prstGeom>
          <a:solidFill>
            <a:srgbClr val="E8F4FF"/>
          </a:solidFill>
          <a:ln w="19050">
            <a:solidFill>
              <a:srgbClr val="15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F5E"/>
                </a:solidFill>
                <a:latin typeface="Calibri"/>
              </a:rPr>
              <a:t>Công thức:  RELOAD = (HCLK ÷ Tần_số_ngắt) − 1</a:t>
            </a:r>
          </a:p>
          <a:p>
            <a:pPr algn="l"/>
            <a:r>
              <a:rPr sz="1700" b="0" i="0">
                <a:solidFill>
                  <a:srgbClr val="155EA8"/>
                </a:solidFill>
                <a:latin typeface="Calibri"/>
              </a:rPr>
              <a:t>           = (12,000,000 ÷ 1,000) − 1  =  11,999     →  Ngắt mỗi 1ms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557784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SysTick (dùng trong Simulator)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5303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AC06A"/>
                </a:solidFill>
                <a:latin typeface="Courier New"/>
              </a:rPr>
              <a:t>// SysTick_1ms.c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SysTick-&gt;CTRL = 0;               // Tắt trước khi cấu hình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SysTick-&gt;LOAD = 11999;           // RELOAD = 12MHz/1000 - 1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SysTick-&gt;VAL  = 0;               // Reset bộ đếm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SysTick-&gt;CTRL = 0x07;            // CLKSOURCE|TICKINT|ENABLE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void SysTick_Handler(void)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timer_1ms_flag = 1;          // Chỉ set cờ — KHÔNG xử lý logic ở đây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06040"/>
            <a:ext cx="576072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CT16B1 (phần cứng thật)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5486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AC06A"/>
                </a:solidFill>
                <a:latin typeface="Courier New"/>
              </a:rPr>
              <a:t>// CT16B1.c — dùng trên phần cứng thật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SN_CT16B1-&gt;MR9   = 12*1000 - 1; // = 11999 → 1ms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SN_CT16B1-&gt;MCTRL = (1&lt;&lt;30)|(1&lt;&lt;29); // MR9IE + MR9RST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void CT16B1_IRQHandler(void) {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uint32_t ris = SN_CT16B1-&gt;RIS;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if (ris &amp; (1&lt;&lt;5)) {          // MR9 match?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timer_1ms_flag = 1;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SN_CT16B1-&gt;IC = ris;         // Clear interrupt flag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40680"/>
            <a:ext cx="11612880" cy="12070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468112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5E"/>
                </a:solidFill>
                <a:latin typeface="Calibri"/>
              </a:rPr>
              <a:t>Luồng timing:</a:t>
            </a:r>
          </a:p>
          <a:p>
            <a:pPr algn="l"/>
            <a:r>
              <a:rPr sz="1400" b="0" i="0">
                <a:solidFill>
                  <a:srgbClr val="111122"/>
                </a:solidFill>
                <a:latin typeface="Calibri"/>
              </a:rPr>
              <a:t>timer_1ms_flag=1 (ISR)  →  main loop đọc flag  →  Digital_Scan() + tick_second() + update_buzzer()</a:t>
            </a:r>
          </a:p>
          <a:p>
            <a:pPr algn="l"/>
            <a:r>
              <a:rPr sz="1300" b="0" i="0">
                <a:solidFill>
                  <a:srgbClr val="155EA8"/>
                </a:solidFill>
                <a:latin typeface="Calibri"/>
              </a:rPr>
              <a:t>Sau 1000ms: g_sec++ → sau 60s: g_min++ → sau 60min: g_hour++ → wrap 23→0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LED 7 Đoạn — Multiplexing 250Hz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4 chữ số, quét tuần tự, 1ms/digit → 250Hz refresh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6072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Digital_Scan() — gọi mỗi 1ms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4864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9CD6"/>
                </a:solidFill>
                <a:latin typeface="Courier New"/>
              </a:rPr>
              <a:t>void Digital_Scan(void) {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// Bước 1: Tắt segment (tránh ghost)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SN_GPIO0-&gt;BCLR = 0xFF;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// Bước 2: Tắt COM hiện tại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SN_GPIO1-&gt;BSET = (1 &lt;&lt; (9 + com_scan)); // COM active LOW → set = tắt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// Bước 3: Chuyển sang COM tiếp theo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com_scan = (com_scan + 1) % 4;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// Bước 4: Bật COM mới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SN_GPIO1-&gt;BCLR = (1 &lt;&lt; (9 + com_scan));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// Bước 5: Xuất segment data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SN_GPIO0-&gt;BSET = segment_buff[com_scan];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98448"/>
            <a:ext cx="5669280" cy="30175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E"/>
                </a:solidFill>
                <a:latin typeface="Calibri"/>
              </a:rPr>
              <a:t>SEGMENT_TABLE[]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55648"/>
            <a:ext cx="50292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773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755648"/>
            <a:ext cx="68580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77393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88936" y="1755648"/>
            <a:ext cx="128016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1773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Binary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87384" y="1755648"/>
            <a:ext cx="137160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87384" y="1773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Segments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03120"/>
            <a:ext cx="502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7" y="2121408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10312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121408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0x3F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8936" y="2103120"/>
            <a:ext cx="12801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3" y="2121408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0b0011_1111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7384" y="2103120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2121408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a b c d e 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368296"/>
            <a:ext cx="50292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7" y="2386584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2368296"/>
            <a:ext cx="6858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2386584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88936" y="2368296"/>
            <a:ext cx="128016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3" y="2386584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0b0000_0110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87384" y="2368296"/>
            <a:ext cx="13716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672" y="2386584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b 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02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7" y="2651760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4848" y="2633472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265176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0x5B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88936" y="2633472"/>
            <a:ext cx="12801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7223" y="2651760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0b0101_1011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87384" y="2633472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2651760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a b d e 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898648"/>
            <a:ext cx="50292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7" y="2916936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2898648"/>
            <a:ext cx="6858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2916936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0x4F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88936" y="2898648"/>
            <a:ext cx="128016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3" y="291693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0b0100_1111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87384" y="2898648"/>
            <a:ext cx="13716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05672" y="2916936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a b c d 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163824"/>
            <a:ext cx="502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7" y="3182112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4848" y="3163824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03136" y="3182112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0x66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88936" y="3163824"/>
            <a:ext cx="12801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07223" y="3182112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0b0110_0110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87384" y="3163824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05672" y="3182112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b c f 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3429000"/>
            <a:ext cx="50292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81927" y="3447288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84848" y="3429000"/>
            <a:ext cx="6858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3136" y="3447288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0x6D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88936" y="3429000"/>
            <a:ext cx="128016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07223" y="3447288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0b0110_1101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87384" y="3429000"/>
            <a:ext cx="13716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05672" y="3447288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a c d f 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3694175"/>
            <a:ext cx="502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81927" y="3712463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84848" y="3694175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03136" y="3712463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0x7F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88936" y="3694175"/>
            <a:ext cx="12801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07223" y="3712463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0b0111_1111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87384" y="3694175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05672" y="3712463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all 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3959352"/>
            <a:ext cx="50292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81927" y="3977640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84848" y="3959352"/>
            <a:ext cx="6858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03136" y="3977640"/>
            <a:ext cx="649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50BB"/>
                </a:solidFill>
                <a:latin typeface="Courier New"/>
              </a:rPr>
              <a:t>0x40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88936" y="3959352"/>
            <a:ext cx="128016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07223" y="3977640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ourier New"/>
              </a:rPr>
              <a:t>0b0100_0000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87384" y="3959352"/>
            <a:ext cx="1371600" cy="256032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05672" y="3977640"/>
            <a:ext cx="1335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11122"/>
                </a:solidFill>
                <a:latin typeface="Calibri"/>
              </a:rPr>
              <a:t>g only (dash)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434840"/>
            <a:ext cx="5760720" cy="22128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448056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2F5E"/>
                </a:solidFill>
                <a:latin typeface="Calibri"/>
              </a:rPr>
              <a:t>Bit mapping:  bit0=SEG_A · bit1=SEG_B · · · bit6=SEG_G · bit7=DP</a:t>
            </a:r>
          </a:p>
          <a:p>
            <a:pPr algn="l"/>
            <a:r>
              <a:rPr sz="1300" b="0" i="0">
                <a:solidFill>
                  <a:srgbClr val="111122"/>
                </a:solidFill>
                <a:latin typeface="Calibri"/>
              </a:rPr>
              <a:t>COM thứ tự:  COM0=chữ số giờ chục · COM1=giờ đơn · COM2=phút chục · COM3=phút đơn</a:t>
            </a:r>
          </a:p>
          <a:p>
            <a:pPr algn="l"/>
            <a:r>
              <a:rPr sz="1300" b="0" i="0">
                <a:solidFill>
                  <a:srgbClr val="155EA8"/>
                </a:solidFill>
                <a:latin typeface="Calibri"/>
              </a:rPr>
              <a:t>Blink logic:  blink_flag 0/1 đổi mỗi 500ms → xóa segment_buff[digit] = 0x00</a:t>
            </a:r>
          </a:p>
          <a:p>
            <a:pPr algn="l"/>
            <a:r>
              <a:rPr sz="1300" b="1" i="0">
                <a:solidFill>
                  <a:srgbClr val="1A8A3C"/>
                </a:solidFill>
                <a:latin typeface="Calibri"/>
              </a:rPr>
              <a:t>Ghost fix:   Tắt SEG trước → Tắt COM → Chuyển COM → Bật COM → Bật SEG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4434840"/>
            <a:ext cx="5669280" cy="22128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09360" y="448056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EA8"/>
                </a:solidFill>
                <a:latin typeface="Calibri"/>
              </a:rPr>
              <a:t>Tần số quét:  4 COM × 1ms = 4ms/chu kỳ → 250Hz</a:t>
            </a:r>
          </a:p>
          <a:p>
            <a:pPr algn="l"/>
            <a:r>
              <a:rPr sz="1300" b="0" i="0">
                <a:solidFill>
                  <a:srgbClr val="111122"/>
                </a:solidFill>
                <a:latin typeface="Calibri"/>
              </a:rPr>
              <a:t>Mắt người:   Nhận biết flicker &lt; 50Hz → 250Hz mượt hoàn toàn</a:t>
            </a:r>
          </a:p>
          <a:p>
            <a:pPr algn="l"/>
            <a:r>
              <a:rPr sz="1300" b="0" i="0">
                <a:solidFill>
                  <a:srgbClr val="0D2F5E"/>
                </a:solidFill>
                <a:latin typeface="Calibri"/>
              </a:rPr>
              <a:t>update_display(): chọn data từ trạng thái hiện tại:</a:t>
            </a:r>
          </a:p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  NORMAL → g_hour/g_min</a:t>
            </a:r>
          </a:p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  SET_HOUR → g_hour nhấp nháy, g_min tĩnh</a:t>
            </a:r>
          </a:p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  SET_ALARM_* → alarm_hour/alarm_min, LED D6 nháy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I2C &amp; EEPROM AT24C02 — Lưu Báo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Dữ liệu không mất khi mất điện — giao thức I2C chuẩn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64008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EEPROM Driver (I2C0)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6126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AC06A"/>
                </a:solidFill>
                <a:latin typeface="Courier New"/>
              </a:rPr>
              <a:t>// Ghi 1 byte vào EEPROM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void eeprom_write(uint8_t reg, uint8_t data)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I2C_Start();          // START condition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I2C_WriteByte(0xA0);  // Slave address WRITE (7-bit: 0b1010_000 + R/W=0)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I2C_WriteByte(reg);   // Địa chỉ thanh ghi (0x00=alarm_hour, 0x01=alarm_min)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I2C_WriteByte(data);  // Dữ liệu cần lưu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I2C_Stop();           // STOP condition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// Đọc 1 byte từ EEPROM (Repeated START)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uint8_t eeprom_read(uint8_t reg)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I2C_Start();          // START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I2C_WriteByte(0xA0);  // Slave address WRITE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I2C_WriteByte(reg);   // Chọn thanh ghi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I2C_Start();          // Repeated START (không STOP giữa chừng!)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I2C_WriteByte(0xA1);  // Slave address READ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uint8_t val = I2C_ReadByte(NACK); // Đọc → NACK (byte cuối)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I2C_Stop();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return val;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298448"/>
            <a:ext cx="4937760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408176"/>
            <a:ext cx="4608576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5E"/>
                </a:solidFill>
                <a:latin typeface="Calibri"/>
              </a:rPr>
              <a:t>Thông số &amp; Điểm quan trọng</a:t>
            </a:r>
          </a:p>
          <a:p>
            <a:pPr algn="l"/>
            <a:r>
              <a:rPr b="0" sz="1300">
                <a:solidFill>
                  <a:srgbClr val="0D2F5E"/>
                </a:solidFill>
                <a:latin typeface="Calibri"/>
              </a:rPr>
              <a:t>▸ AT24C02: 256 byte, endurance 1,000,000 lần ghi</a:t>
            </a:r>
          </a:p>
          <a:p>
            <a:pPr algn="l"/>
            <a:r>
              <a:rPr b="0" sz="1300">
                <a:solidFill>
                  <a:srgbClr val="155EA8"/>
                </a:solidFill>
                <a:latin typeface="Calibri"/>
              </a:rPr>
              <a:t>▸ Địa chỉ slave: 0xA0 (write) / 0xA1 (read)</a:t>
            </a:r>
          </a:p>
          <a:p>
            <a:pPr algn="l"/>
            <a:r>
              <a:rPr b="0" sz="1300">
                <a:solidFill>
                  <a:srgbClr val="155EA8"/>
                </a:solidFill>
                <a:latin typeface="Calibri"/>
              </a:rPr>
              <a:t>▸ EEPROM_AL_HOUR = 0x00 | EEPROM_AL_MIN = 0x01</a:t>
            </a:r>
          </a:p>
          <a:p>
            <a:pPr algn="l"/>
            <a:r>
              <a:rPr b="1" sz="1300">
                <a:solidFill>
                  <a:srgbClr val="1A8A3C"/>
                </a:solidFill>
                <a:latin typeface="Calibri"/>
              </a:rPr>
              <a:t>▸ Kiểm tra 0xFF khi khởi động — phát hiện EEPROM mới chưa ghi</a:t>
            </a:r>
          </a:p>
          <a:p>
            <a:pPr algn="l"/>
            <a:r>
              <a:rPr b="1" sz="1300">
                <a:solidFill>
                  <a:srgbClr val="1A8A3C"/>
                </a:solidFill>
                <a:latin typeface="Calibri"/>
              </a:rPr>
              <a:t>▸ Tuổi thọ: 1 write/ngày → ~1,370 NĂM</a:t>
            </a:r>
          </a:p>
          <a:p>
            <a:pPr algn="l"/>
            <a:r>
              <a:rPr b="0" sz="1300">
                <a:solidFill>
                  <a:srgbClr val="0D2F5E"/>
                </a:solidFill>
                <a:latin typeface="Calibri"/>
              </a:rPr>
              <a:t>▸ PFPA: P0.10=SDA, P0.11=SCL — gán qua thanh ghi PFPA0</a:t>
            </a:r>
          </a:p>
          <a:p>
            <a:pPr algn="l"/>
            <a:r>
              <a:rPr b="0" sz="1300">
                <a:solidFill>
                  <a:srgbClr val="D46B08"/>
                </a:solidFill>
                <a:latin typeface="Calibri"/>
              </a:rPr>
              <a:t>▸ Repeated START: tránh bus bị giải phóng giữa write và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532120"/>
            <a:ext cx="1161288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2F5E"/>
                </a:solidFill>
                <a:latin typeface="Calibri"/>
              </a:rPr>
              <a:t>Giao thức I2C Write:   START → 0xA0 → reg_addr → data → STOP</a:t>
            </a:r>
          </a:p>
          <a:p>
            <a:pPr algn="l"/>
            <a:r>
              <a:rPr sz="1300" b="0" i="0">
                <a:solidFill>
                  <a:srgbClr val="155EA8"/>
                </a:solidFill>
                <a:latin typeface="Calibri"/>
              </a:rPr>
              <a:t>Giao thức I2C Read:    START → 0xA0 → reg_addr → rSTART → 0xA1 → data(NACK) →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Buzzer PWM — Âm Thanh Bằng Phần Cứng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CT16B0 tạo sóng vuông 600Hz — không tốn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6400800" cy="397763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CT16B0 PWM 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6126480" cy="3611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AC06A"/>
                </a:solidFill>
                <a:latin typeface="Courier New"/>
              </a:rPr>
              <a:t>// CT16B0.c — Cấu hình PWM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SN_CT16B0-&gt;MR9     = 19999;      // Period: 12MHz/(19999+1) = 600Hz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SN_CT16B0-&gt;MR0     = 0;          // Duty=0 (tắt buzzer ban đầu)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SN_CT16B0-&gt;PWMCTRL = (1&lt;&lt;0)      // PWM0EN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           | (1&lt;&lt;4)      // PWM0MODE (toggle)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           | (1&lt;&lt;20);    // MR9RST (auto-reload)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// Bật buzzer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void buzzer_on(uint32_t freq_hz)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SN_CT16B0-&gt;MR9 = (12000000 / freq_hz) - 1; // Tính lại period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SN_CT16B0-&gt;MR0 = SN_CT16B0-&gt;MR9 / 2;       // Duty 50%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// Tắt buzzer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void buzzer_off(void)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SN_CT16B0-&gt;MR0 = 0;          // Duty=0 → output thấp → im lặng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298448"/>
            <a:ext cx="4937760" cy="3977639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408176"/>
            <a:ext cx="4608576" cy="37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5E"/>
                </a:solidFill>
                <a:latin typeface="Calibri"/>
              </a:rPr>
              <a:t>Chế độ hoạt động</a:t>
            </a:r>
          </a:p>
          <a:p>
            <a:pPr algn="l"/>
            <a:r>
              <a:rPr b="0" sz="1300">
                <a:solidFill>
                  <a:srgbClr val="0D2F5E"/>
                </a:solidFill>
                <a:latin typeface="Calibri"/>
              </a:rPr>
              <a:t>▸ Pip 300ms: xác nhận nhấn phím — buzzer_on(600) → delay 300ms → buzzer_off()</a:t>
            </a:r>
          </a:p>
          <a:p>
            <a:pPr algn="l"/>
            <a:r>
              <a:rPr b="0" sz="1300">
                <a:solidFill>
                  <a:srgbClr val="155EA8"/>
                </a:solidFill>
                <a:latin typeface="Calibri"/>
              </a:rPr>
              <a:t>▸ Alarm 5s: còi kêu 5 giây, 500ms on/off xen kẽ</a:t>
            </a:r>
          </a:p>
          <a:p>
            <a:pPr algn="l"/>
            <a:r>
              <a:rPr b="1" sz="1300">
                <a:solidFill>
                  <a:srgbClr val="D46B08"/>
                </a:solidFill>
                <a:latin typeface="Calibri"/>
              </a:rPr>
              <a:t>▸ Priority: Alarm &gt; Pip (alarm không bị pip override)</a:t>
            </a:r>
          </a:p>
          <a:p>
            <a:pPr algn="l"/>
            <a:r>
              <a:rPr b="0" sz="1300">
                <a:solidFill>
                  <a:srgbClr val="0D2F5E"/>
                </a:solidFill>
                <a:latin typeface="Calibri"/>
              </a:rPr>
              <a:t>▸ Output pin: P3.0 — gán qua PFPA3 → CT16B0 PWM0</a:t>
            </a:r>
          </a:p>
          <a:p>
            <a:pPr algn="l"/>
            <a:r>
              <a:rPr b="1" sz="1300">
                <a:solidFill>
                  <a:srgbClr val="1A8A3C"/>
                </a:solidFill>
                <a:latin typeface="Calibri"/>
              </a:rPr>
              <a:t>▸ Ưu điểm PWM phần cứng: tần số chính xác tuyệt đối,
  không bị ảnh hưởng bởi ngắt hay load CPU</a:t>
            </a:r>
          </a:p>
          <a:p>
            <a:pPr algn="l"/>
            <a:r>
              <a:rPr b="1" sz="1300">
                <a:solidFill>
                  <a:srgbClr val="1A8A3C"/>
                </a:solidFill>
                <a:latin typeface="Calibri"/>
              </a:rPr>
              <a:t>▸ Verify: CT16B0→MR9=19999 → 12M÷20000=600Hz ✓</a:t>
            </a:r>
          </a:p>
          <a:p>
            <a:pPr algn="l"/>
            <a:r>
              <a:rPr b="0" sz="1300">
                <a:solidFill>
                  <a:srgbClr val="155EA8"/>
                </a:solidFill>
                <a:latin typeface="Calibri"/>
              </a:rPr>
              <a:t>▸ Duty 50%: MR0=9999 = MR9÷2 → sóng vuông đối xứng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394960"/>
            <a:ext cx="11612880" cy="12344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440680"/>
            <a:ext cx="11247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D2F5E"/>
                </a:solidFill>
                <a:latin typeface="Calibri"/>
              </a:rPr>
              <a:t>Sóng PWM 600Hz, duty 50% (MR0=9999, MR9=19999, HCLK=12MHz):</a:t>
            </a:r>
          </a:p>
          <a:p>
            <a:pPr algn="l"/>
            <a:r>
              <a:rPr sz="1200" b="0" i="0">
                <a:solidFill>
                  <a:srgbClr val="155EA8"/>
                </a:solidFill>
                <a:latin typeface="Calibri"/>
              </a:rPr>
              <a:t>│▔▔▔▔▔│_____│▔▔▔▔▔│_____│▔▔▔▔▔│_____│   ← 1 chu kỳ = 1/600Hz ≈ 1.67ms</a:t>
            </a:r>
          </a:p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MR0 match → toggle output LOW   |   MR9 match → toggle output HIGH + reset counter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Watchdog Timer — Bảo Vệ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Tự động reset nếu firmware treo — cơ chế quan trọng trong embedded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6583680" cy="4846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Vòng lặp chính với WDT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6309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AC06A"/>
                </a:solidFill>
                <a:latin typeface="Courier New"/>
              </a:rPr>
              <a:t>// main() — while(1) loop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while (1) {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/* ① Feed WDT — PHẢI làm đầu tiên mỗi vòng lặp */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SN_WDT-&gt;FEED = 0x5AFA5AFA;   // Magic word để reset bộ đếm WDT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/* ② Chờ tick 1ms */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if (timer_1ms_flag)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timer_1ms_flag = 0;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        /* ③ Xử lý logic */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Digital_Scan();           // Quét LED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Key_Scan();               // Đọc phím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process_key();            // Cập nhật state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update_display();         // Cập nhật buffer LED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ms_counter++;</a:t>
            </a:r>
          </a:p>
          <a:p>
            <a:r>
              <a:rPr sz="1150">
                <a:solidFill>
                  <a:srgbClr val="569CD6"/>
                </a:solidFill>
                <a:latin typeface="Courier New"/>
              </a:rPr>
              <a:t>        if (ms_counter &gt;= 1000) {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    ms_counter = 0;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    tick_second();        // Đếm giây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}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    update_buzzer();          // Cập nhật còi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}</a:t>
            </a:r>
          </a:p>
          <a:p>
            <a:r>
              <a:rPr sz="1150">
                <a:solidFill>
                  <a:srgbClr val="6AC06A"/>
                </a:solidFill>
                <a:latin typeface="Courier New"/>
              </a:rPr>
              <a:t>// Nếu vòng lặp bị treo → WDT không được feed → timeout ~250ms → RESET MCU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298448"/>
            <a:ext cx="4846320" cy="4846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408176"/>
            <a:ext cx="4517136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5E"/>
                </a:solidFill>
                <a:latin typeface="Calibri"/>
              </a:rPr>
              <a:t>Phân tích an toàn hệ thống</a:t>
            </a:r>
          </a:p>
          <a:p>
            <a:pPr algn="l"/>
            <a:r>
              <a:rPr b="0" sz="1250">
                <a:solidFill>
                  <a:srgbClr val="0D2F5E"/>
                </a:solidFill>
                <a:latin typeface="Calibri"/>
              </a:rPr>
              <a:t>▸ WDT timeout: ~250ms nếu không feed</a:t>
            </a:r>
          </a:p>
          <a:p>
            <a:pPr algn="l"/>
            <a:r>
              <a:rPr b="0" sz="1250">
                <a:solidFill>
                  <a:srgbClr val="155EA8"/>
                </a:solidFill>
                <a:latin typeface="Calibri"/>
              </a:rPr>
              <a:t>▸ Feed magic word: 0x5AFA5AFA — giá trị cố định của SN32F407</a:t>
            </a:r>
          </a:p>
          <a:p>
            <a:pPr algn="l"/>
            <a:r>
              <a:rPr b="1" sz="1250">
                <a:solidFill>
                  <a:srgbClr val="D46B08"/>
                </a:solidFill>
                <a:latin typeface="Calibri"/>
              </a:rPr>
              <a:t>▸ Trường hợp WDT kích hoạt reset:</a:t>
            </a:r>
          </a:p>
          <a:p>
            <a:pPr algn="l"/>
            <a:r>
              <a:rPr b="0" sz="1250">
                <a:solidFill>
                  <a:srgbClr val="111122"/>
                </a:solidFill>
                <a:latin typeface="Calibri"/>
              </a:rPr>
              <a:t>▸   • I2C busy-wait không thoát (EEPROM không phản hồi)</a:t>
            </a:r>
          </a:p>
          <a:p>
            <a:pPr algn="l"/>
            <a:r>
              <a:rPr b="0" sz="1250">
                <a:solidFill>
                  <a:srgbClr val="111122"/>
                </a:solidFill>
                <a:latin typeface="Calibri"/>
              </a:rPr>
              <a:t>▸   • Vòng lặp vô tận do bug logic</a:t>
            </a:r>
          </a:p>
          <a:p>
            <a:pPr algn="l"/>
            <a:r>
              <a:rPr b="0" sz="1250">
                <a:solidFill>
                  <a:srgbClr val="111122"/>
                </a:solidFill>
                <a:latin typeface="Calibri"/>
              </a:rPr>
              <a:t>▸   • Stack overflow gây HardFault</a:t>
            </a:r>
          </a:p>
          <a:p>
            <a:pPr algn="l"/>
            <a:r>
              <a:rPr b="1" sz="1250">
                <a:solidFill>
                  <a:srgbClr val="1A8A3C"/>
                </a:solidFill>
                <a:latin typeface="Calibri"/>
              </a:rPr>
              <a:t>▸ Sau reset: MCU khởi động lại từ đầu, tải báo thức từ EEPROM</a:t>
            </a:r>
          </a:p>
          <a:p>
            <a:pPr algn="l"/>
            <a:r>
              <a:rPr b="0" sz="1250">
                <a:solidFill>
                  <a:srgbClr val="155EA8"/>
                </a:solidFill>
                <a:latin typeface="Calibri"/>
              </a:rPr>
              <a:t>▸ Timeout SET mode: 30 giây không tương tác → NORMAL</a:t>
            </a:r>
          </a:p>
          <a:p>
            <a:pPr algn="l"/>
            <a:r>
              <a:rPr b="1" sz="1250">
                <a:solidFill>
                  <a:srgbClr val="D46B08"/>
                </a:solidFill>
                <a:latin typeface="Calibri"/>
              </a:rPr>
              <a:t>▸ Volatile flag: đảm bảo compiler không optimize biến dùng chung ISR↔main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Demo — Keil MDK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Mô phỏng hoàn toàn phần cứng, không cần board mạch thật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4389120" cy="53218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F5E"/>
                </a:solidFill>
                <a:latin typeface="Calibri"/>
              </a:rPr>
              <a:t>📋 Quy trình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6537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6537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Build project (F7) → 0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59152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957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9572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Debug Options → Use Simulator
DLL: DARMCM1.DLL  param: -pCM0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89504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260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Ctrl+F5 vào Debug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19856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564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Mở Watch Window 1:
  g_hour, g_min, g_sec, g_sim_key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50208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8678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86784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F5 → chương trình chạy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80560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5171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1713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Quan sát g_sec tăng → g_min cuộn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10912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0474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4748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Set g_sim_key=0x14 → SET_HOUR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541264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57784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Set g_sim_key=0x22/0x42 → tăng/giảm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71616"/>
            <a:ext cx="347472" cy="4389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1081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08192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Cài báo thức: g_sim_key=0x88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1298448"/>
            <a:ext cx="699516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136245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F5E"/>
                </a:solidFill>
                <a:latin typeface="Calibri"/>
              </a:rPr>
              <a:t>🎮 Giả lập phím (Watch Window → g_sim_key)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1783080"/>
            <a:ext cx="192024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80" y="18013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Phím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12864" y="1783080"/>
            <a:ext cx="82296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2864" y="18013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g_sim_key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54112" y="1783080"/>
            <a:ext cx="3200400" cy="329184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1801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Chức năng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2130552"/>
            <a:ext cx="1920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2167128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SW3  — SETUP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12864" y="2130552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8583" y="2167128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5EA8"/>
                </a:solidFill>
                <a:latin typeface="Courier New"/>
              </a:rPr>
              <a:t>0x14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54112" y="2130552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9832" y="216712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Vào/thoát SET mode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2468880"/>
            <a:ext cx="192024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250545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SW6  — PLUS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12864" y="2468880"/>
            <a:ext cx="82296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58583" y="2505456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5EA8"/>
                </a:solidFill>
                <a:latin typeface="Courier New"/>
              </a:rPr>
              <a:t>0x22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54112" y="2468880"/>
            <a:ext cx="320040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9832" y="2505456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Tăng giá trị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0" y="2807208"/>
            <a:ext cx="1920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2843784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SW10 — MINUS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2864" y="2807208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58583" y="2843784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5EA8"/>
                </a:solidFill>
                <a:latin typeface="Courier New"/>
              </a:rPr>
              <a:t>0x42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54112" y="2807208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9832" y="284378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Giảm giá trị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80" y="3145536"/>
            <a:ext cx="192024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0" y="3182112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SW16 — ALARM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12864" y="3145536"/>
            <a:ext cx="82296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58583" y="3182112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5EA8"/>
                </a:solidFill>
                <a:latin typeface="Courier New"/>
              </a:rPr>
              <a:t>0x88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54112" y="3145536"/>
            <a:ext cx="3200400" cy="320040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99832" y="318211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22"/>
                </a:solidFill>
                <a:latin typeface="Calibri"/>
              </a:rPr>
              <a:t>Vào SET_ALARM mode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3703320"/>
            <a:ext cx="699516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0" y="37490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D8"/>
                </a:solidFill>
                <a:latin typeface="Calibri"/>
              </a:rPr>
              <a:t>Watch 1 — Keil Simulator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096512"/>
            <a:ext cx="6583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B0D8"/>
                </a:solidFill>
                <a:latin typeface="Calibri"/>
              </a:rPr>
              <a:t>  Name               Type         Value</a:t>
            </a:r>
          </a:p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  ─────────────────────────────────────────────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g_hour             uint8_t      09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g_min              uint8_t      30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g_sec              uint8_t      42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g_sim_key          uint8_t      0x00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alarm_hour         uint8_t      07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alarm_min          uint8_t      00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timer_1ms_flag     volatile     0</a:t>
            </a:r>
          </a:p>
          <a:p>
            <a:pPr algn="l"/>
            <a:r>
              <a:rPr sz="1100" b="0" i="0">
                <a:solidFill>
                  <a:srgbClr val="D4D4D4"/>
                </a:solidFill>
                <a:latin typeface="Calibri"/>
              </a:rPr>
              <a:t>  state              uint8_t      0  (NORMAL)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Kết Quả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14 test case — bao gồm các trường hợp biên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640080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1298448"/>
            <a:ext cx="3291840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1673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298448"/>
            <a:ext cx="4114800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131673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Kết quả quan sát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1624" y="1298448"/>
            <a:ext cx="1051560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131673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82496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0992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1682496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1709928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Đếm giờ bình thường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1682496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1709928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g_sec: 0→59→0, g_min++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21624" y="1682496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709928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09851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037283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2009851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2037283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Wrap-around 23:59→00:00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2009851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2037283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g_hour 23→0 khi g_min=59→0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21624" y="2009851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2037283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37206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36463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" y="2337206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2364638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Cài giờ PLUS từ 0→23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2337206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8536" y="2364638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g_hour tăng đúng, wrap 23→0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4" y="2337206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364638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64561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691993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" y="2664561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2691993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Cài phút MINUS từ 0→59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2816" y="2664561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2691993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g_min giảm, wrap 0→59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21624" y="2664561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2691993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991916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019348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" y="2991916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" y="3019348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Timeout 30s trong SET_HOUR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2816" y="2991916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3019348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State → NORMAL sau 30000ms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1624" y="2991916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67344" y="3019348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31927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346704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" y="3319272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" y="3346704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Cài báo thức và lưu EEPROM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42816" y="3319272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88536" y="3346704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alarm_hour/min ghi 0x00/0x01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319272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67344" y="3346704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646627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674059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" y="3646627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" y="3674059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Báo thức kích hoạt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42816" y="3646627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88536" y="3674059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g_hour=alarm_hour, g_min=alarm_min, g_sec=0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1624" y="3646627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344" y="3674059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97398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001414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" y="3973982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" y="4001414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Tắt báo thức bằng phím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42816" y="3973982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88536" y="4001414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buzzer_state → IDLE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21624" y="3973982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67344" y="4001414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301337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328769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TC09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2688" y="4301337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" y="4328769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Pip 300ms khi nhấn phím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42816" y="4301337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88536" y="4328769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buzzer kêu 300ms rồi tắt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21624" y="4301337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7344" y="4328769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62869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4656124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2688" y="4628692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8408" y="4656124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LED D0 nhấp nháy 1Hz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42816" y="4628692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88536" y="4656124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P3.8 toggle mỗi 500ms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21624" y="4628692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67344" y="4656124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956048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0040" y="4983480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TC11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32688" y="4956048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78408" y="4983480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Blink chữ số đang SET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42816" y="4956048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88536" y="4983480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blink_flag: 0/1 mỗi 500ms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21624" y="4956048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67344" y="4983480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5283403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5310835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32688" y="5283403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8408" y="5310835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EEPROM 0xFF → dùng default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42816" y="5283403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88536" y="5310835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alarm=00:00 khi EEPROM mới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421624" y="5283403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67344" y="5310835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5610758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0040" y="5638190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2688" y="5610758"/>
            <a:ext cx="3291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8408" y="5638190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WDT feed đều đặn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42816" y="5610758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288536" y="5638190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SN_WDT-&gt;FEED mỗi vòng lặp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421624" y="5610758"/>
            <a:ext cx="1051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467344" y="5638190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5938113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5965545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5EA8"/>
                </a:solidFill>
                <a:latin typeface="Calibri"/>
              </a:rPr>
              <a:t>TC14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2688" y="5938113"/>
            <a:ext cx="32918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8408" y="5965545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Không race condition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42816" y="5938113"/>
            <a:ext cx="411480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88536" y="5965545"/>
            <a:ext cx="4023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ISR chỉ set uint8_t flag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21624" y="5938113"/>
            <a:ext cx="105156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67344" y="5965545"/>
            <a:ext cx="9601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3C"/>
                </a:solidFill>
                <a:latin typeface="Calibri"/>
              </a:rPr>
              <a:t>✅ PASS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A3C"/>
                </a:solidFill>
                <a:latin typeface="Calibri"/>
              </a:rPr>
              <a:t>14/14 TEST CASES PASSED 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Đánh Giá Chương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Điểm mạnh, điểm cần cải thiện,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623560" cy="38404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08176"/>
            <a:ext cx="5294376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8A3C"/>
                </a:solidFill>
                <a:latin typeface="Calibri"/>
              </a:rPr>
              <a:t>✅ Điểm mạnh</a:t>
            </a:r>
          </a:p>
          <a:p>
            <a:pPr algn="l"/>
            <a:r>
              <a:rPr b="1" sz="1350">
                <a:solidFill>
                  <a:srgbClr val="1A8A3C"/>
                </a:solidFill>
                <a:latin typeface="Calibri"/>
              </a:rPr>
              <a:t>✓ Register-level programming — không dùng HAL hay Arduino abstraction</a:t>
            </a:r>
          </a:p>
          <a:p>
            <a:pPr algn="l"/>
            <a:r>
              <a:rPr b="1" sz="1350">
                <a:solidFill>
                  <a:srgbClr val="1A8A3C"/>
                </a:solidFill>
                <a:latin typeface="Calibri"/>
              </a:rPr>
              <a:t>✓ ISR tối giản: chỉ set flag, logic xử lý ở main loop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volatile đúng chỗ — tránh compiler optimize mất cờ ISR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GPIO atomic BSET/BCLR — thread-safe, không race condition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PWM buzzer phần cứng — 600Hz ổn định, không tốn CPU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EEPROM: kiểm tra 0xFF, tuổi thọ ~1,370 năm ở 1 write/ngày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Ghost segment fix: tắt SEG trước khi chuyển COM</a:t>
            </a:r>
          </a:p>
          <a:p>
            <a:pPr algn="l"/>
            <a:r>
              <a:rPr b="0" sz="1350">
                <a:solidFill>
                  <a:srgbClr val="1A8A3C"/>
                </a:solidFill>
                <a:latin typeface="Calibri"/>
              </a:rPr>
              <a:t>✓ WDT + timeout bảo vệ — sản phẩm không bao giờ bị treo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30368"/>
            <a:ext cx="5623560" cy="13898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5340096"/>
            <a:ext cx="52943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6B08"/>
                </a:solidFill>
                <a:latin typeface="Calibri"/>
              </a:rPr>
              <a:t>⚠️  Cần cải thiện (nếu nâng cấp)</a:t>
            </a:r>
          </a:p>
          <a:p>
            <a:pPr algn="l"/>
            <a:r>
              <a:rPr b="1" sz="1350">
                <a:solidFill>
                  <a:srgbClr val="D46B08"/>
                </a:solidFill>
                <a:latin typeface="Calibri"/>
              </a:rPr>
              <a:t>◦ IHRC ±5% drift: ~3 phút/giờ sai số (cần RTC ngoài cho sản phẩm thật)</a:t>
            </a:r>
          </a:p>
          <a:p>
            <a:pPr algn="l"/>
            <a:r>
              <a:rPr b="0" sz="1350">
                <a:solidFill>
                  <a:srgbClr val="D46B08"/>
                </a:solidFill>
                <a:latin typeface="Calibri"/>
              </a:rPr>
              <a:t>◦ I2C busy-wait: không có timeout → WDT sẽ reset nếu EEPROM không phản hồi</a:t>
            </a:r>
          </a:p>
          <a:p>
            <a:pPr algn="l"/>
            <a:r>
              <a:rPr b="0" sz="1350">
                <a:solidFill>
                  <a:srgbClr val="D46B08"/>
                </a:solidFill>
                <a:latin typeface="Calibri"/>
              </a:rPr>
              <a:t>◦ Chưa có __WFI() tiết kiệm điện giữa các ngắt</a:t>
            </a:r>
          </a:p>
          <a:p>
            <a:pPr algn="l"/>
            <a:r>
              <a:rPr b="0" sz="1350">
                <a:solidFill>
                  <a:srgbClr val="D46B08"/>
                </a:solidFill>
                <a:latin typeface="Calibri"/>
              </a:rPr>
              <a:t>◦ Debounce chỉ dựa polling period 1ms (chưa có bộ đếm 20ms)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98448"/>
            <a:ext cx="5943600" cy="53218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F5E"/>
                </a:solidFill>
                <a:latin typeface="Calibri"/>
              </a:rPr>
              <a:t>📊 Bảng điểm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202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Kiến trúc phần mềm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828800"/>
            <a:ext cx="1463040" cy="566928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9202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9/10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496312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5877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Sử dụng phần cứng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2496312"/>
            <a:ext cx="1463040" cy="566928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5877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9/10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63824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2552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Reliability &amp; Safety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3163824"/>
            <a:ext cx="1463040" cy="566928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2552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7/10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831335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92277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Tính năng đề bài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3831335"/>
            <a:ext cx="1463040" cy="566928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922775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10/10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498848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5902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Khả năng mở rộng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498848"/>
            <a:ext cx="1463040" cy="566928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45902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8/10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166360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2578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11122"/>
                </a:solidFill>
                <a:latin typeface="Calibri"/>
              </a:rPr>
              <a:t>Tài liệu &amp; Demo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5166360"/>
            <a:ext cx="1463040" cy="566928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5257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10/10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5870448"/>
            <a:ext cx="5742432" cy="68580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925312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TỔNG:   8.8 / 10  ★★★★☆   Grade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Câu Hỏi Phỏng Vấn Thường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Top 10 câu hỏi về dự án này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Q1: Tại sao dùng BSET/BCLR thay vì đọc-ghi-trả?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BSET/BCLR là atomic — không thể bị ngắt giữa chừng. Read-Modify-Write gồm 3 lệnh riêng, ISR có thể chen vào giữa gây race condition.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0428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4086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Q2: SysTick RELOAD tính thế nào?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8833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RELOAD = HCLK/Freq − 1 = 12,000,000/1,000 − 1 = 11,999. Bộ đếm giảm từ 11999 về 0 mất đúng 1ms.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1012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4670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Q3: Tại sao ISR chỉ set flag, không xử lý trực tiếp?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9417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ISR cần ngắn gọn để không chặn các ngắt khác. Logic nặng (scan LED, I2C) ở main loop an toàn hơn.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1596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5254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Q4: volatile có tác dụng gì?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0001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Báo compiler: 'biến này có thể thay đổi bên ngoài luồng code' → không cache vào register → luôn đọc từ RAM.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2180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35838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Q5: Tại sao tắt SEG trước khi chuyển COM?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0585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Nếu chuyển COM khi SEG đang bật → segment sẽ sáng sai 1 khoảnh khắc ở digit mới (ghost). Tắt SEG trước loại bỏ hoàn toàn hiện tượng này.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29844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33502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Q6: I2C Repeated START khác STOP+START thế nào?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8249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Repeated START giữ quyền làm chủ bus (master). STOP+START giải phóng bus → slave khác có thể chiếm → nguy cơ đọc sai dữ liệu.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30428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4086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Q7: WDT timeout ~250ms được tính thế nào?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68833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Dựa vào giá trị thanh ghi WDT prescaler và clock WDT. Với SN32F407, default WDT clock từ ILRC ~32kHz, prescaler cho timeout ~250ms.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31012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34670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Q8: IHRC sai bao nhiêu? Ảnh hưởng đến đồng hồ thế nào?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69417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IHRC sai ±5% theo nhiệt độ. 5% của 3600s/giờ = 180s = 3 phút/giờ. Với sản phẩm thật cần thạch anh 32.768kHz ngoài + RTC.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31596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35254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Q9: State machine có bao nhiêu state? Kể tên.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70001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5 state: NORMAL(0), SET_HOUR(1), SET_MIN(2), SET_ALARM_HOUR(3), SET_ALARM_MIN(4).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321808"/>
            <a:ext cx="57150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35838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F5E"/>
                </a:solidFill>
                <a:latin typeface="Calibri"/>
              </a:rPr>
              <a:t>Q10: Buzzer 600Hz được tạo thế nào?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705856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22"/>
                </a:solidFill>
                <a:latin typeface="Calibri"/>
              </a:rPr>
              <a:t>→ CT16B0 MR9=19999: f = 12MHz/(19999+1) = 600Hz. MR0=9999 = MR9/2 → duty 50%. Output ra P3.0 qua PFPA.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Cấu Trúc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Tổ chức source code theo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9436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  <a:latin typeface="Calibri"/>
              </a:rPr>
              <a:t>Cây thư mục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6692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D4D4D4"/>
                </a:solidFill>
                <a:latin typeface="Courier New"/>
              </a:rPr>
              <a:t>Clock_SN32F407/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├── Source/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├── UserAPP/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├── main.c          ← Vòng lặp chính, state machine, logic nghiệp vụ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└── main_sim.c      ← Phiên bản Simulator (SysTick thay CT16B1)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├── Driver/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├── CT16B0.c/.h     ← Timer buzzer PWM 600Hz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├── CT16B1.c/.h     ← Timer 1ms (phần cứng)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├── GPIO.c/.h       ← Cấu hình tất cả GPIO pin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└── SysTick_1ms.c/.h← Timer 1ms (simulator)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├── Module/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├── Segment.c/.h    ← SEGMENT_TABLE, Digital_Scan()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│   └── EEPROM.c/.h     ← I2C driver + AT24C02 read/write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└── CMSIS/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│       └── SN32F4xx/       ← Device header, startup_SN32F407.s</a:t>
            </a:r>
          </a:p>
          <a:p>
            <a:r>
              <a:rPr sz="1150">
                <a:solidFill>
                  <a:srgbClr val="D4D4D4"/>
                </a:solidFill>
                <a:latin typeface="Courier New"/>
              </a:rPr>
              <a:t>└── Clock_SN32F407.uvprojx  ← Keil µVision5 project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577840" cy="5029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08176"/>
            <a:ext cx="524865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5E"/>
                </a:solidFill>
                <a:latin typeface="Calibri"/>
              </a:rPr>
              <a:t>Vai trò từng file</a:t>
            </a:r>
          </a:p>
          <a:p>
            <a:pPr algn="l"/>
            <a:r>
              <a:rPr b="1" sz="1350">
                <a:solidFill>
                  <a:srgbClr val="0D2F5E"/>
                </a:solidFill>
                <a:latin typeface="Calibri"/>
              </a:rPr>
              <a:t>▸ main.c: ~900 dòng — toàn bộ logic ứng dụng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CT16B1.c: timer 1ms cho phần cứng thật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SysTick_1ms.c: timer 1ms cho Keil Simulator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CT16B0.c: PWM buzzer — tần số lập trình được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GPIO.c: cấu hình P0(SEG), P1(COM), P3(LED+Buzzer)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Segment.c: bảng mã 7 đoạn + hàm quét multiplexing</a:t>
            </a:r>
          </a:p>
          <a:p>
            <a:pPr algn="l"/>
            <a:r>
              <a:rPr b="0" sz="1350">
                <a:solidFill>
                  <a:srgbClr val="155EA8"/>
                </a:solidFill>
                <a:latin typeface="Calibri"/>
              </a:rPr>
              <a:t>▸ EEPROM.c: giao tiếp I2C với AT24C02</a:t>
            </a:r>
          </a:p>
          <a:p>
            <a:pPr algn="l"/>
            <a:r>
              <a:rPr b="0" sz="1350">
                <a:solidFill>
                  <a:srgbClr val="D46B08"/>
                </a:solidFill>
                <a:latin typeface="Calibri"/>
              </a:rPr>
              <a:t>▸ startup_SN32F407.s: assembly — reset handler, vector table</a:t>
            </a:r>
          </a:p>
          <a:p>
            <a:pPr algn="l"/>
            <a:r>
              <a:rPr b="1" sz="1350">
                <a:solidFill>
                  <a:srgbClr val="1A8A3C"/>
                </a:solidFill>
                <a:latin typeface="Calibri"/>
              </a:rPr>
              <a:t>▸ Build output: Clock_SN32F407.hex → flash lên board thật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08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Tài Liệu Đi Kèm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0D8"/>
                </a:solidFill>
                <a:latin typeface="Calibri"/>
              </a:rPr>
              <a:t>Bộ tài liệu đầy đủ cho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612880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02920" cy="896112"/>
          </a:xfrm>
          <a:prstGeom prst="rect">
            <a:avLst/>
          </a:prstGeom>
          <a:solidFill>
            <a:srgbClr val="15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2646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5EA8"/>
                </a:solidFill>
                <a:latin typeface="Calibri"/>
              </a:rPr>
              <a:t>Báo_cáo_Digital_Clock_SN32F407.docx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1051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Báo cáo chính thức — mô tả yêu cầu, thiết kế, kết quả
Kèm Phụ lục: Edge cases, Race condition, EEPROM wear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11612880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502920" cy="896112"/>
          </a:xfrm>
          <a:prstGeom prst="rect">
            <a:avLst/>
          </a:prstGeom>
          <a:solidFill>
            <a:srgbClr val="1A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86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A3C"/>
                </a:solidFill>
                <a:latin typeface="Calibri"/>
              </a:rPr>
              <a:t>Tài_liệu_giải_thích_code.docx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7063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Giải thích chi tiết từng dòng code — 16 phần
Dành cho đọc hiểu sâu trước báo cáo / phỏng vấn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91840"/>
            <a:ext cx="11612880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291840"/>
            <a:ext cx="502920" cy="896112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7472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4670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B08"/>
                </a:solidFill>
                <a:latin typeface="Calibri"/>
              </a:rPr>
              <a:t>Tài_liệu_phỏng_vấn_SN32F407.docx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73075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13 phần lý thuyết + 20 Q&amp;A phỏng vấn
Cover: MCU, GPIO, Timer, I2C, WDT, State machine, IHRC drift...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51960"/>
            <a:ext cx="11612880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502920" cy="89611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43484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0682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2020"/>
                </a:solidFill>
                <a:latin typeface="Calibri"/>
              </a:rPr>
              <a:t>Kịch_bản_quay_demo.docx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69087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12 cảnh quay trên Keil Simulator
Kèm: Lời dẫn voiceover, hướng dẫn Keil setup, bảng phím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12080"/>
            <a:ext cx="11612880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212080"/>
            <a:ext cx="502920" cy="896112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39496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6694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F5E"/>
                </a:solidFill>
                <a:latin typeface="Calibri"/>
              </a:rPr>
              <a:t>Slide_Digital_Clock_SN32F407.pptx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650992"/>
            <a:ext cx="10698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Slide thuyết trình 18 trang — tài liệu này
Dùng cho bảo vệ đồ án / trình bày nhóm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2188952" cy="3810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B0D8"/>
                </a:solidFill>
                <a:latin typeface="Calibri"/>
              </a:rPr>
              <a:t>Digital Clock — SN32F407 ARM Cortex-M0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15/15 yêu cầu đề bài đã hoàn thành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Register-level programming — hiểu sâu phần cứng ARM Cortex-M0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State machine 5 trạng thái — kiến trúc rõ ràng, dễ mở rộng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ISR chuẩn + volatile + atomic GPIO — code đúng chuẩn embedded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WDT + timeout — hệ thống an toàn, không bao giờ bị treo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EEPROM persistence — báo thức không mất khi mất điện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7FFFAA"/>
                </a:solidFill>
                <a:latin typeface="Calibri"/>
              </a:rPr>
              <a:t>✅  Demo hoàn toàn trên Keil Simulator — không cần board thật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B0D8"/>
                </a:solidFill>
                <a:latin typeface="Calibri"/>
              </a:rPr>
              <a:t>Cảm ơn thầy/cô và các bạn đã lắng nghe!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4455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