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64" r:id="rId14"/>
    <p:sldId id="260" r:id="rId15"/>
  </p:sldIdLst>
  <p:sldSz cx="9144000" cy="5143500" type="screen16x9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E4BD"/>
    <a:srgbClr val="DDD9C3"/>
    <a:srgbClr val="80F9FC"/>
    <a:srgbClr val="5FC0C9"/>
    <a:srgbClr val="05EBF1"/>
    <a:srgbClr val="03868A"/>
    <a:srgbClr val="FFFF8F"/>
    <a:srgbClr val="0728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57" autoAdjust="0"/>
  </p:normalViewPr>
  <p:slideViewPr>
    <p:cSldViewPr>
      <p:cViewPr varScale="1">
        <p:scale>
          <a:sx n="139" d="100"/>
          <a:sy n="139" d="100"/>
        </p:scale>
        <p:origin x="206" y="8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B51DD60C-6852-40FE-86CD-C80E2F0AC68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E305ED9-494D-441E-945F-9CE8E848E7A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486C426-8342-4950-BB95-796A00A53C55}" type="datetimeFigureOut">
              <a:rPr lang="zh-TW" altLang="en-US"/>
              <a:pPr>
                <a:defRPr/>
              </a:pPr>
              <a:t>2024/11/28</a:t>
            </a:fld>
            <a:endParaRPr lang="zh-TW" altLang="en-US"/>
          </a:p>
        </p:txBody>
      </p:sp>
      <p:sp>
        <p:nvSpPr>
          <p:cNvPr id="4" name="投影片圖像版面配置區 3">
            <a:extLst>
              <a:ext uri="{FF2B5EF4-FFF2-40B4-BE49-F238E27FC236}">
                <a16:creationId xmlns:a16="http://schemas.microsoft.com/office/drawing/2014/main" id="{37879B2F-DC82-4C4D-A6B6-94AD6DF61A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>
            <a:extLst>
              <a:ext uri="{FF2B5EF4-FFF2-40B4-BE49-F238E27FC236}">
                <a16:creationId xmlns:a16="http://schemas.microsoft.com/office/drawing/2014/main" id="{5CB1585E-E982-426F-97E0-EC0C5F6BD6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noProof="0"/>
              <a:t>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488909D-F9E5-4CEA-A27C-C343E7F372D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3690298-8DA8-480C-9C30-0CC5956DA2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7059B434-F7E9-48CF-9551-0C38DA5648BA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投影片影像版面配置區 1">
            <a:extLst>
              <a:ext uri="{FF2B5EF4-FFF2-40B4-BE49-F238E27FC236}">
                <a16:creationId xmlns:a16="http://schemas.microsoft.com/office/drawing/2014/main" id="{D987AB20-A534-4179-A346-C86EE7EAB2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備忘稿版面配置區 2">
            <a:extLst>
              <a:ext uri="{FF2B5EF4-FFF2-40B4-BE49-F238E27FC236}">
                <a16:creationId xmlns:a16="http://schemas.microsoft.com/office/drawing/2014/main" id="{4A536CF6-0C5A-49FF-A079-D8E112F24F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1268" name="投影片編號版面配置區 3">
            <a:extLst>
              <a:ext uri="{FF2B5EF4-FFF2-40B4-BE49-F238E27FC236}">
                <a16:creationId xmlns:a16="http://schemas.microsoft.com/office/drawing/2014/main" id="{C5836646-61DC-414B-B8EE-DBE3A343A3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fld id="{695DB373-FCFD-4329-9D6C-27CDD47C97AF}" type="slidenum">
              <a:rPr lang="zh-TW" altLang="en-US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25581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投影片影像版面配置區 1">
            <a:extLst>
              <a:ext uri="{FF2B5EF4-FFF2-40B4-BE49-F238E27FC236}">
                <a16:creationId xmlns:a16="http://schemas.microsoft.com/office/drawing/2014/main" id="{D987AB20-A534-4179-A346-C86EE7EAB2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備忘稿版面配置區 2">
            <a:extLst>
              <a:ext uri="{FF2B5EF4-FFF2-40B4-BE49-F238E27FC236}">
                <a16:creationId xmlns:a16="http://schemas.microsoft.com/office/drawing/2014/main" id="{4A536CF6-0C5A-49FF-A079-D8E112F24F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1268" name="投影片編號版面配置區 3">
            <a:extLst>
              <a:ext uri="{FF2B5EF4-FFF2-40B4-BE49-F238E27FC236}">
                <a16:creationId xmlns:a16="http://schemas.microsoft.com/office/drawing/2014/main" id="{C5836646-61DC-414B-B8EE-DBE3A343A3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fld id="{695DB373-FCFD-4329-9D6C-27CDD47C97AF}" type="slidenum">
              <a:rPr lang="zh-TW" altLang="en-US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18387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投影片影像版面配置區 1">
            <a:extLst>
              <a:ext uri="{FF2B5EF4-FFF2-40B4-BE49-F238E27FC236}">
                <a16:creationId xmlns:a16="http://schemas.microsoft.com/office/drawing/2014/main" id="{D987AB20-A534-4179-A346-C86EE7EAB2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備忘稿版面配置區 2">
            <a:extLst>
              <a:ext uri="{FF2B5EF4-FFF2-40B4-BE49-F238E27FC236}">
                <a16:creationId xmlns:a16="http://schemas.microsoft.com/office/drawing/2014/main" id="{4A536CF6-0C5A-49FF-A079-D8E112F24F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1268" name="投影片編號版面配置區 3">
            <a:extLst>
              <a:ext uri="{FF2B5EF4-FFF2-40B4-BE49-F238E27FC236}">
                <a16:creationId xmlns:a16="http://schemas.microsoft.com/office/drawing/2014/main" id="{C5836646-61DC-414B-B8EE-DBE3A343A3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fld id="{695DB373-FCFD-4329-9D6C-27CDD47C97AF}" type="slidenum">
              <a:rPr lang="zh-TW" altLang="en-US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83064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投影片影像版面配置區 1">
            <a:extLst>
              <a:ext uri="{FF2B5EF4-FFF2-40B4-BE49-F238E27FC236}">
                <a16:creationId xmlns:a16="http://schemas.microsoft.com/office/drawing/2014/main" id="{D987AB20-A534-4179-A346-C86EE7EAB2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備忘稿版面配置區 2">
            <a:extLst>
              <a:ext uri="{FF2B5EF4-FFF2-40B4-BE49-F238E27FC236}">
                <a16:creationId xmlns:a16="http://schemas.microsoft.com/office/drawing/2014/main" id="{4A536CF6-0C5A-49FF-A079-D8E112F24F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1268" name="投影片編號版面配置區 3">
            <a:extLst>
              <a:ext uri="{FF2B5EF4-FFF2-40B4-BE49-F238E27FC236}">
                <a16:creationId xmlns:a16="http://schemas.microsoft.com/office/drawing/2014/main" id="{C5836646-61DC-414B-B8EE-DBE3A343A3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fld id="{695DB373-FCFD-4329-9D6C-27CDD47C97AF}" type="slidenum">
              <a:rPr lang="zh-TW" altLang="en-US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8220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投影片影像版面配置區 1">
            <a:extLst>
              <a:ext uri="{FF2B5EF4-FFF2-40B4-BE49-F238E27FC236}">
                <a16:creationId xmlns:a16="http://schemas.microsoft.com/office/drawing/2014/main" id="{D987AB20-A534-4179-A346-C86EE7EAB2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備忘稿版面配置區 2">
            <a:extLst>
              <a:ext uri="{FF2B5EF4-FFF2-40B4-BE49-F238E27FC236}">
                <a16:creationId xmlns:a16="http://schemas.microsoft.com/office/drawing/2014/main" id="{4A536CF6-0C5A-49FF-A079-D8E112F24F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1268" name="投影片編號版面配置區 3">
            <a:extLst>
              <a:ext uri="{FF2B5EF4-FFF2-40B4-BE49-F238E27FC236}">
                <a16:creationId xmlns:a16="http://schemas.microsoft.com/office/drawing/2014/main" id="{C5836646-61DC-414B-B8EE-DBE3A343A3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fld id="{695DB373-FCFD-4329-9D6C-27CDD47C97AF}" type="slidenum">
              <a:rPr lang="zh-TW" altLang="en-US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27753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投影片影像版面配置區 1">
            <a:extLst>
              <a:ext uri="{FF2B5EF4-FFF2-40B4-BE49-F238E27FC236}">
                <a16:creationId xmlns:a16="http://schemas.microsoft.com/office/drawing/2014/main" id="{D987AB20-A534-4179-A346-C86EE7EAB2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備忘稿版面配置區 2">
            <a:extLst>
              <a:ext uri="{FF2B5EF4-FFF2-40B4-BE49-F238E27FC236}">
                <a16:creationId xmlns:a16="http://schemas.microsoft.com/office/drawing/2014/main" id="{4A536CF6-0C5A-49FF-A079-D8E112F24F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1268" name="投影片編號版面配置區 3">
            <a:extLst>
              <a:ext uri="{FF2B5EF4-FFF2-40B4-BE49-F238E27FC236}">
                <a16:creationId xmlns:a16="http://schemas.microsoft.com/office/drawing/2014/main" id="{C5836646-61DC-414B-B8EE-DBE3A343A3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fld id="{695DB373-FCFD-4329-9D6C-27CDD47C97AF}" type="slidenum">
              <a:rPr lang="zh-TW" altLang="en-US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69701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投影片影像版面配置區 1">
            <a:extLst>
              <a:ext uri="{FF2B5EF4-FFF2-40B4-BE49-F238E27FC236}">
                <a16:creationId xmlns:a16="http://schemas.microsoft.com/office/drawing/2014/main" id="{D987AB20-A534-4179-A346-C86EE7EAB2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備忘稿版面配置區 2">
            <a:extLst>
              <a:ext uri="{FF2B5EF4-FFF2-40B4-BE49-F238E27FC236}">
                <a16:creationId xmlns:a16="http://schemas.microsoft.com/office/drawing/2014/main" id="{4A536CF6-0C5A-49FF-A079-D8E112F24F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1268" name="投影片編號版面配置區 3">
            <a:extLst>
              <a:ext uri="{FF2B5EF4-FFF2-40B4-BE49-F238E27FC236}">
                <a16:creationId xmlns:a16="http://schemas.microsoft.com/office/drawing/2014/main" id="{C5836646-61DC-414B-B8EE-DBE3A343A3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fld id="{695DB373-FCFD-4329-9D6C-27CDD47C97AF}" type="slidenum">
              <a:rPr lang="zh-TW" altLang="en-US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29254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投影片影像版面配置區 1">
            <a:extLst>
              <a:ext uri="{FF2B5EF4-FFF2-40B4-BE49-F238E27FC236}">
                <a16:creationId xmlns:a16="http://schemas.microsoft.com/office/drawing/2014/main" id="{D987AB20-A534-4179-A346-C86EE7EAB2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備忘稿版面配置區 2">
            <a:extLst>
              <a:ext uri="{FF2B5EF4-FFF2-40B4-BE49-F238E27FC236}">
                <a16:creationId xmlns:a16="http://schemas.microsoft.com/office/drawing/2014/main" id="{4A536CF6-0C5A-49FF-A079-D8E112F24F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1268" name="投影片編號版面配置區 3">
            <a:extLst>
              <a:ext uri="{FF2B5EF4-FFF2-40B4-BE49-F238E27FC236}">
                <a16:creationId xmlns:a16="http://schemas.microsoft.com/office/drawing/2014/main" id="{C5836646-61DC-414B-B8EE-DBE3A343A3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fld id="{695DB373-FCFD-4329-9D6C-27CDD47C97AF}" type="slidenum">
              <a:rPr lang="zh-TW" altLang="en-US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58413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投影片影像版面配置區 1">
            <a:extLst>
              <a:ext uri="{FF2B5EF4-FFF2-40B4-BE49-F238E27FC236}">
                <a16:creationId xmlns:a16="http://schemas.microsoft.com/office/drawing/2014/main" id="{D987AB20-A534-4179-A346-C86EE7EAB2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備忘稿版面配置區 2">
            <a:extLst>
              <a:ext uri="{FF2B5EF4-FFF2-40B4-BE49-F238E27FC236}">
                <a16:creationId xmlns:a16="http://schemas.microsoft.com/office/drawing/2014/main" id="{4A536CF6-0C5A-49FF-A079-D8E112F24F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1268" name="投影片編號版面配置區 3">
            <a:extLst>
              <a:ext uri="{FF2B5EF4-FFF2-40B4-BE49-F238E27FC236}">
                <a16:creationId xmlns:a16="http://schemas.microsoft.com/office/drawing/2014/main" id="{C5836646-61DC-414B-B8EE-DBE3A343A3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fld id="{695DB373-FCFD-4329-9D6C-27CDD47C97AF}" type="slidenum">
              <a:rPr lang="zh-TW" altLang="en-US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89199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投影片影像版面配置區 1">
            <a:extLst>
              <a:ext uri="{FF2B5EF4-FFF2-40B4-BE49-F238E27FC236}">
                <a16:creationId xmlns:a16="http://schemas.microsoft.com/office/drawing/2014/main" id="{D987AB20-A534-4179-A346-C86EE7EAB2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備忘稿版面配置區 2">
            <a:extLst>
              <a:ext uri="{FF2B5EF4-FFF2-40B4-BE49-F238E27FC236}">
                <a16:creationId xmlns:a16="http://schemas.microsoft.com/office/drawing/2014/main" id="{4A536CF6-0C5A-49FF-A079-D8E112F24F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1268" name="投影片編號版面配置區 3">
            <a:extLst>
              <a:ext uri="{FF2B5EF4-FFF2-40B4-BE49-F238E27FC236}">
                <a16:creationId xmlns:a16="http://schemas.microsoft.com/office/drawing/2014/main" id="{C5836646-61DC-414B-B8EE-DBE3A343A3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fld id="{695DB373-FCFD-4329-9D6C-27CDD47C97AF}" type="slidenum">
              <a:rPr lang="zh-TW" altLang="en-US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98403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投影片影像版面配置區 1">
            <a:extLst>
              <a:ext uri="{FF2B5EF4-FFF2-40B4-BE49-F238E27FC236}">
                <a16:creationId xmlns:a16="http://schemas.microsoft.com/office/drawing/2014/main" id="{D987AB20-A534-4179-A346-C86EE7EAB2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備忘稿版面配置區 2">
            <a:extLst>
              <a:ext uri="{FF2B5EF4-FFF2-40B4-BE49-F238E27FC236}">
                <a16:creationId xmlns:a16="http://schemas.microsoft.com/office/drawing/2014/main" id="{4A536CF6-0C5A-49FF-A079-D8E112F24F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1268" name="投影片編號版面配置區 3">
            <a:extLst>
              <a:ext uri="{FF2B5EF4-FFF2-40B4-BE49-F238E27FC236}">
                <a16:creationId xmlns:a16="http://schemas.microsoft.com/office/drawing/2014/main" id="{C5836646-61DC-414B-B8EE-DBE3A343A3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fld id="{695DB373-FCFD-4329-9D6C-27CDD47C97AF}" type="slidenum">
              <a:rPr lang="zh-TW" altLang="en-US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63543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投影片影像版面配置區 1">
            <a:extLst>
              <a:ext uri="{FF2B5EF4-FFF2-40B4-BE49-F238E27FC236}">
                <a16:creationId xmlns:a16="http://schemas.microsoft.com/office/drawing/2014/main" id="{D987AB20-A534-4179-A346-C86EE7EAB2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備忘稿版面配置區 2">
            <a:extLst>
              <a:ext uri="{FF2B5EF4-FFF2-40B4-BE49-F238E27FC236}">
                <a16:creationId xmlns:a16="http://schemas.microsoft.com/office/drawing/2014/main" id="{4A536CF6-0C5A-49FF-A079-D8E112F24F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1268" name="投影片編號版面配置區 3">
            <a:extLst>
              <a:ext uri="{FF2B5EF4-FFF2-40B4-BE49-F238E27FC236}">
                <a16:creationId xmlns:a16="http://schemas.microsoft.com/office/drawing/2014/main" id="{C5836646-61DC-414B-B8EE-DBE3A343A3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fld id="{695DB373-FCFD-4329-9D6C-27CDD47C97AF}" type="slidenum">
              <a:rPr lang="zh-TW" altLang="en-US"/>
              <a:pPr/>
              <a:t>13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4">
            <a:extLst>
              <a:ext uri="{FF2B5EF4-FFF2-40B4-BE49-F238E27FC236}">
                <a16:creationId xmlns:a16="http://schemas.microsoft.com/office/drawing/2014/main" id="{966F292F-40DD-405B-A52C-1E97CD5ADB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292475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3059832" y="1491630"/>
            <a:ext cx="5398368" cy="110251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057600" y="2753592"/>
            <a:ext cx="5400600" cy="538238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rgbClr val="009999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按一下以編輯母片副標題樣式</a:t>
            </a:r>
          </a:p>
        </p:txBody>
      </p:sp>
      <p:sp>
        <p:nvSpPr>
          <p:cNvPr id="5" name="日期版面配置區 3">
            <a:extLst>
              <a:ext uri="{FF2B5EF4-FFF2-40B4-BE49-F238E27FC236}">
                <a16:creationId xmlns:a16="http://schemas.microsoft.com/office/drawing/2014/main" id="{5D361412-9EA5-40A3-A1BB-1BA502B703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87900" y="3579813"/>
            <a:ext cx="1368425" cy="274637"/>
          </a:xfrm>
          <a:prstGeom prst="rect">
            <a:avLst/>
          </a:prstGeom>
        </p:spPr>
        <p:txBody>
          <a:bodyPr/>
          <a:lstStyle>
            <a:lvl1pPr eaLnBrk="1" hangingPunct="1">
              <a:defRPr lang="en-US" altLang="zh-TW">
                <a:solidFill>
                  <a:srgbClr val="FFFF00"/>
                </a:solidFill>
              </a:defRPr>
            </a:lvl1pPr>
          </a:lstStyle>
          <a:p>
            <a:pPr>
              <a:defRPr/>
            </a:pPr>
            <a:fld id="{25933388-00B0-41F9-8B9A-3F7B372F68F8}" type="datetime1">
              <a:rPr lang="zh-TW" altLang="en-US"/>
              <a:pPr>
                <a:defRPr/>
              </a:pPr>
              <a:t>2024/11/28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31601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頁-有裝飾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D918A72B-852C-4D09-892E-1553E915287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812088" y="123825"/>
            <a:ext cx="1222375" cy="33813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defRPr/>
            </a:pPr>
            <a:r>
              <a:rPr lang="en-US" altLang="zh-TW" sz="1600" b="1" dirty="0">
                <a:solidFill>
                  <a:srgbClr val="009999"/>
                </a:solidFill>
              </a:rPr>
              <a:t>Confidential</a:t>
            </a:r>
            <a:endParaRPr lang="zh-TW" altLang="en-US" sz="1600" b="1" dirty="0">
              <a:solidFill>
                <a:srgbClr val="009999"/>
              </a:solidFill>
            </a:endParaRPr>
          </a:p>
        </p:txBody>
      </p:sp>
      <p:pic>
        <p:nvPicPr>
          <p:cNvPr id="6" name="圖片 2">
            <a:extLst>
              <a:ext uri="{FF2B5EF4-FFF2-40B4-BE49-F238E27FC236}">
                <a16:creationId xmlns:a16="http://schemas.microsoft.com/office/drawing/2014/main" id="{5E5254D1-7ABB-49C1-B6E1-A1144ADEDE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3" y="874713"/>
            <a:ext cx="91440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47414"/>
            <a:ext cx="5472113" cy="857250"/>
          </a:xfrm>
        </p:spPr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394075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200" b="1"/>
            </a:lvl1pPr>
            <a:lvl2pPr>
              <a:lnSpc>
                <a:spcPct val="150000"/>
              </a:lnSpc>
              <a:defRPr sz="1900">
                <a:solidFill>
                  <a:schemeClr val="accent3">
                    <a:lumMod val="40000"/>
                    <a:lumOff val="60000"/>
                  </a:schemeClr>
                </a:solidFill>
              </a:defRPr>
            </a:lvl2pPr>
            <a:lvl3pPr>
              <a:lnSpc>
                <a:spcPct val="150000"/>
              </a:lnSpc>
              <a:defRPr sz="1500"/>
            </a:lvl3pPr>
            <a:lvl4pPr>
              <a:lnSpc>
                <a:spcPct val="150000"/>
              </a:lnSpc>
              <a:defRPr sz="1200">
                <a:solidFill>
                  <a:schemeClr val="accent3">
                    <a:lumMod val="40000"/>
                    <a:lumOff val="60000"/>
                  </a:schemeClr>
                </a:solidFill>
              </a:defRPr>
            </a:lvl4pPr>
            <a:lvl5pPr>
              <a:lnSpc>
                <a:spcPct val="150000"/>
              </a:lnSpc>
              <a:defRPr sz="1600"/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7" name="投影片編號版面配置區 5">
            <a:extLst>
              <a:ext uri="{FF2B5EF4-FFF2-40B4-BE49-F238E27FC236}">
                <a16:creationId xmlns:a16="http://schemas.microsoft.com/office/drawing/2014/main" id="{F329BB44-0FF6-4CC0-8BBE-EA69775AC1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7F01FB7-0629-4C18-B36A-666CBC938BF5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0265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頁-無裝飾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EC56D1E2-4962-4FBF-8028-D04038164F5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812088" y="123825"/>
            <a:ext cx="1222375" cy="33813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defRPr/>
            </a:pPr>
            <a:r>
              <a:rPr lang="en-US" altLang="zh-TW" sz="1600" b="1" dirty="0">
                <a:solidFill>
                  <a:srgbClr val="009999"/>
                </a:solidFill>
              </a:rPr>
              <a:t>Confidential</a:t>
            </a:r>
            <a:endParaRPr lang="zh-TW" altLang="en-US" sz="1600" b="1" dirty="0">
              <a:solidFill>
                <a:srgbClr val="009999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47414"/>
            <a:ext cx="5472113" cy="857250"/>
          </a:xfrm>
        </p:spPr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394075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200" b="1"/>
            </a:lvl1pPr>
            <a:lvl2pPr>
              <a:lnSpc>
                <a:spcPct val="150000"/>
              </a:lnSpc>
              <a:defRPr sz="1900"/>
            </a:lvl2pPr>
            <a:lvl3pPr>
              <a:lnSpc>
                <a:spcPct val="150000"/>
              </a:lnSpc>
              <a:defRPr sz="150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600"/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5" name="投影片編號版面配置區 5">
            <a:extLst>
              <a:ext uri="{FF2B5EF4-FFF2-40B4-BE49-F238E27FC236}">
                <a16:creationId xmlns:a16="http://schemas.microsoft.com/office/drawing/2014/main" id="{1EAFC517-DAD5-47A7-B46D-0E55DF0590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83AFEE3-66DA-41A0-93E5-F8A19CACB36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4463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插頁">
    <p:bg>
      <p:bgPr>
        <a:solidFill>
          <a:srgbClr val="F3F1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7C7A1D16-0949-40A6-9A98-1F6EE6273EC1}"/>
              </a:ext>
            </a:extLst>
          </p:cNvPr>
          <p:cNvSpPr txBox="1">
            <a:spLocks/>
          </p:cNvSpPr>
          <p:nvPr userDrawn="1"/>
        </p:nvSpPr>
        <p:spPr bwMode="auto">
          <a:xfrm>
            <a:off x="539750" y="1203325"/>
            <a:ext cx="1871663" cy="85725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595959"/>
                </a:solidFill>
                <a:latin typeface="微軟正黑體" pitchFamily="34" charset="-120"/>
                <a:ea typeface="微軟正黑體" pitchFamily="34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595959"/>
                </a:solidFill>
                <a:latin typeface="微軟正黑體" pitchFamily="34" charset="-120"/>
                <a:ea typeface="微軟正黑體" pitchFamily="34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595959"/>
                </a:solidFill>
                <a:latin typeface="微軟正黑體" pitchFamily="34" charset="-120"/>
                <a:ea typeface="微軟正黑體" pitchFamily="34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595959"/>
                </a:solidFill>
                <a:latin typeface="微軟正黑體" pitchFamily="34" charset="-120"/>
                <a:ea typeface="微軟正黑體" pitchFamily="34" charset="-12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595959"/>
                </a:solidFill>
                <a:latin typeface="微軟正黑體" pitchFamily="34" charset="-120"/>
                <a:ea typeface="微軟正黑體" pitchFamily="34" charset="-12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595959"/>
                </a:solidFill>
                <a:latin typeface="微軟正黑體" pitchFamily="34" charset="-120"/>
                <a:ea typeface="微軟正黑體" pitchFamily="34" charset="-12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595959"/>
                </a:solidFill>
                <a:latin typeface="微軟正黑體" pitchFamily="34" charset="-120"/>
                <a:ea typeface="微軟正黑體" pitchFamily="34" charset="-12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595959"/>
                </a:solidFill>
                <a:latin typeface="微軟正黑體" pitchFamily="34" charset="-120"/>
                <a:ea typeface="微軟正黑體" pitchFamily="34" charset="-120"/>
              </a:defRPr>
            </a:lvl9pPr>
          </a:lstStyle>
          <a:p>
            <a:pPr>
              <a:defRPr/>
            </a:pPr>
            <a:endParaRPr kumimoji="0" lang="zh-TW" altLang="en-US" sz="2000" dirty="0">
              <a:solidFill>
                <a:schemeClr val="bg1"/>
              </a:solidFill>
            </a:endParaRPr>
          </a:p>
        </p:txBody>
      </p:sp>
      <p:pic>
        <p:nvPicPr>
          <p:cNvPr id="4" name="圖片 6">
            <a:extLst>
              <a:ext uri="{FF2B5EF4-FFF2-40B4-BE49-F238E27FC236}">
                <a16:creationId xmlns:a16="http://schemas.microsoft.com/office/drawing/2014/main" id="{B794A8C6-ADF2-42CD-85F3-D145EE78B3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4149725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直角三角形 4">
            <a:extLst>
              <a:ext uri="{FF2B5EF4-FFF2-40B4-BE49-F238E27FC236}">
                <a16:creationId xmlns:a16="http://schemas.microsoft.com/office/drawing/2014/main" id="{6F337D40-A986-464D-A923-706E39A292D1}"/>
              </a:ext>
            </a:extLst>
          </p:cNvPr>
          <p:cNvSpPr/>
          <p:nvPr userDrawn="1"/>
        </p:nvSpPr>
        <p:spPr>
          <a:xfrm flipH="1">
            <a:off x="8423275" y="3076575"/>
            <a:ext cx="720725" cy="2066925"/>
          </a:xfrm>
          <a:prstGeom prst="rtTriangle">
            <a:avLst/>
          </a:prstGeom>
          <a:solidFill>
            <a:srgbClr val="5FC0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41E17-3930-4EDD-A128-57B9BC9FD77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812088" y="123825"/>
            <a:ext cx="1092200" cy="3079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defRPr/>
            </a:pPr>
            <a:r>
              <a:rPr lang="en-US" altLang="zh-TW" sz="1400" b="1" dirty="0">
                <a:solidFill>
                  <a:schemeClr val="bg1">
                    <a:lumMod val="65000"/>
                  </a:schemeClr>
                </a:solidFill>
              </a:rPr>
              <a:t>Confidential</a:t>
            </a:r>
            <a:endParaRPr lang="zh-TW" altLang="en-US" sz="1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167336" y="1923678"/>
            <a:ext cx="5976664" cy="857250"/>
          </a:xfrm>
        </p:spPr>
        <p:txBody>
          <a:bodyPr/>
          <a:lstStyle>
            <a:lvl1pPr algn="l"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7" name="投影片編號版面配置區 4">
            <a:extLst>
              <a:ext uri="{FF2B5EF4-FFF2-40B4-BE49-F238E27FC236}">
                <a16:creationId xmlns:a16="http://schemas.microsoft.com/office/drawing/2014/main" id="{69B030FF-CCD3-4555-9B00-F3F3EEF3CA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E4FD556-7101-411E-AD94-760D9A3423D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3547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插頁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02F5D151-5DF4-46E1-9081-CAEECC5049B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812088" y="123825"/>
            <a:ext cx="1222375" cy="33813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defRPr/>
            </a:pPr>
            <a:r>
              <a:rPr lang="en-US" altLang="zh-TW" sz="1600" b="1" dirty="0">
                <a:solidFill>
                  <a:srgbClr val="009999"/>
                </a:solidFill>
              </a:rPr>
              <a:t>Confidential</a:t>
            </a:r>
            <a:endParaRPr lang="zh-TW" altLang="en-US" sz="1600" b="1" dirty="0">
              <a:solidFill>
                <a:srgbClr val="009999"/>
              </a:solidFill>
            </a:endParaRPr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1187624" y="1851671"/>
            <a:ext cx="6264696" cy="1440160"/>
          </a:xfrm>
        </p:spPr>
        <p:txBody>
          <a:bodyPr/>
          <a:lstStyle>
            <a:lvl1pPr algn="l">
              <a:defRPr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AFC7112-0E02-4959-844F-32C7A26C51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>
                <a:solidFill>
                  <a:srgbClr val="984807"/>
                </a:solidFill>
              </a:defRPr>
            </a:lvl1pPr>
          </a:lstStyle>
          <a:p>
            <a:pPr>
              <a:defRPr/>
            </a:pPr>
            <a:fld id="{99C4B6F9-9BD7-482C-87D9-788C4FCE2DB5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7418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頁尾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13BC41E9-5243-4B6F-939D-54762A04153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812088" y="123825"/>
            <a:ext cx="1092200" cy="3079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defRPr/>
            </a:pPr>
            <a:r>
              <a:rPr lang="en-US" altLang="zh-TW" sz="1400" b="1" dirty="0">
                <a:solidFill>
                  <a:schemeClr val="bg1">
                    <a:lumMod val="65000"/>
                  </a:schemeClr>
                </a:solidFill>
              </a:rPr>
              <a:t>Confidential</a:t>
            </a:r>
            <a:endParaRPr lang="zh-TW" altLang="en-US" sz="1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1403648" y="1563638"/>
            <a:ext cx="5976664" cy="1440160"/>
          </a:xfrm>
        </p:spPr>
        <p:txBody>
          <a:bodyPr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7AA9427-1761-4BC3-AFA7-4301C56354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75688" y="4845050"/>
            <a:ext cx="369887" cy="274638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06DFA82-5909-493B-BCE4-E56E832B978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4343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>
            <a:extLst>
              <a:ext uri="{FF2B5EF4-FFF2-40B4-BE49-F238E27FC236}">
                <a16:creationId xmlns:a16="http://schemas.microsoft.com/office/drawing/2014/main" id="{E03CE67C-15C8-4C44-B20E-368E3B06321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60375" y="195263"/>
            <a:ext cx="5472113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>
            <a:extLst>
              <a:ext uri="{FF2B5EF4-FFF2-40B4-BE49-F238E27FC236}">
                <a16:creationId xmlns:a16="http://schemas.microsoft.com/office/drawing/2014/main" id="{479D73FE-2F11-4E45-8D22-BF79169E2D4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C08107A-3951-4FDE-B8E1-CC3B4E9010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4250" y="4845050"/>
            <a:ext cx="369888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 smtClean="0">
                <a:solidFill>
                  <a:srgbClr val="EBF1DE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</a:lstStyle>
          <a:p>
            <a:pPr>
              <a:defRPr/>
            </a:pPr>
            <a:fld id="{2245A44F-F210-48CC-B834-E2569CB63125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  <p:sldLayoutId id="2147484053" r:id="rId2"/>
    <p:sldLayoutId id="2147484054" r:id="rId3"/>
    <p:sldLayoutId id="2147484055" r:id="rId4"/>
    <p:sldLayoutId id="2147484056" r:id="rId5"/>
    <p:sldLayoutId id="2147484057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 kern="1200">
          <a:solidFill>
            <a:srgbClr val="FFFF8F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FFFF8F"/>
          </a:solidFill>
          <a:latin typeface="微軟正黑體" pitchFamily="34" charset="-120"/>
          <a:ea typeface="微軟正黑體" pitchFamily="34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FFFF8F"/>
          </a:solidFill>
          <a:latin typeface="微軟正黑體" pitchFamily="34" charset="-120"/>
          <a:ea typeface="微軟正黑體" pitchFamily="34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FFFF8F"/>
          </a:solidFill>
          <a:latin typeface="微軟正黑體" pitchFamily="34" charset="-120"/>
          <a:ea typeface="微軟正黑體" pitchFamily="34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FFFF8F"/>
          </a:solidFill>
          <a:latin typeface="微軟正黑體" pitchFamily="34" charset="-120"/>
          <a:ea typeface="微軟正黑體" pitchFamily="34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595959"/>
          </a:solidFill>
          <a:latin typeface="微軟正黑體" pitchFamily="34" charset="-120"/>
          <a:ea typeface="微軟正黑體" pitchFamily="34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595959"/>
          </a:solidFill>
          <a:latin typeface="微軟正黑體" pitchFamily="34" charset="-120"/>
          <a:ea typeface="微軟正黑體" pitchFamily="34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595959"/>
          </a:solidFill>
          <a:latin typeface="微軟正黑體" pitchFamily="34" charset="-120"/>
          <a:ea typeface="微軟正黑體" pitchFamily="34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595959"/>
          </a:solidFill>
          <a:latin typeface="微軟正黑體" pitchFamily="34" charset="-120"/>
          <a:ea typeface="微軟正黑體" pitchFamily="34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rgbClr val="DDD9C3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rgbClr val="DDD9C3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rgbClr val="DDD9C3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ern="1200">
          <a:solidFill>
            <a:srgbClr val="DDD9C3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ern="1200">
          <a:solidFill>
            <a:srgbClr val="DDD9C3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D7429E-C727-47B5-A6F0-B8E3581AE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59113" y="1492250"/>
            <a:ext cx="5399087" cy="110172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kumimoji="1" lang="en-US" altLang="zh-TW" sz="4000" kern="0" dirty="0">
                <a:latin typeface="Verdana" panose="020B0604030504040204" pitchFamily="34" charset="0"/>
                <a:ea typeface="Verdana" panose="020B0604030504040204" pitchFamily="34" charset="0"/>
              </a:rPr>
              <a:t>8051 Example</a:t>
            </a:r>
            <a:endParaRPr lang="zh-TW" altLang="en-US" sz="4000" dirty="0">
              <a:latin typeface="Verdana" panose="020B0604030504040204" pitchFamily="34" charset="0"/>
            </a:endParaRPr>
          </a:p>
        </p:txBody>
      </p:sp>
      <p:sp>
        <p:nvSpPr>
          <p:cNvPr id="9219" name="副標題 2">
            <a:extLst>
              <a:ext uri="{FF2B5EF4-FFF2-40B4-BE49-F238E27FC236}">
                <a16:creationId xmlns:a16="http://schemas.microsoft.com/office/drawing/2014/main" id="{146F632B-AE17-404B-82A9-F69C331DCF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57525" y="2754313"/>
            <a:ext cx="5400675" cy="538162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9220" name="日期版面配置區 3">
            <a:extLst>
              <a:ext uri="{FF2B5EF4-FFF2-40B4-BE49-F238E27FC236}">
                <a16:creationId xmlns:a16="http://schemas.microsoft.com/office/drawing/2014/main" id="{D8C5C017-DB43-4340-8881-F42F30CBCD2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3535669-6E66-4D8C-B64C-E4743596EF1D}" type="datetime1">
              <a:rPr lang="zh-TW" altLang="en-US" sz="1800" smtClean="0">
                <a:solidFill>
                  <a:srgbClr val="FFFF00"/>
                </a:solidFill>
                <a:latin typeface="Calibri" panose="020F0502020204030204" pitchFamily="34" charset="0"/>
                <a:ea typeface="新細明體" panose="02020500000000000000" pitchFamily="18" charset="-120"/>
              </a:rPr>
              <a:pPr>
                <a:spcBef>
                  <a:spcPct val="0"/>
                </a:spcBef>
                <a:buFontTx/>
                <a:buNone/>
              </a:pPr>
              <a:t>2024/11/28</a:t>
            </a:fld>
            <a:endParaRPr lang="zh-TW" altLang="en-US" sz="1800" dirty="0">
              <a:solidFill>
                <a:srgbClr val="FFFF00"/>
              </a:solidFill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pic>
        <p:nvPicPr>
          <p:cNvPr id="9221" name="圖片 2">
            <a:extLst>
              <a:ext uri="{FF2B5EF4-FFF2-40B4-BE49-F238E27FC236}">
                <a16:creationId xmlns:a16="http://schemas.microsoft.com/office/drawing/2014/main" id="{AAD0672F-A994-4555-A376-D3C086F486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50" y="4803775"/>
            <a:ext cx="857250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6">
            <a:extLst>
              <a:ext uri="{FF2B5EF4-FFF2-40B4-BE49-F238E27FC236}">
                <a16:creationId xmlns:a16="http://schemas.microsoft.com/office/drawing/2014/main" id="{FF0A3592-A40E-421D-871D-BEAD7F699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7638"/>
            <a:ext cx="5472113" cy="857250"/>
          </a:xfrm>
        </p:spPr>
        <p:txBody>
          <a:bodyPr/>
          <a:lstStyle/>
          <a:p>
            <a:r>
              <a:rPr lang="en-US" altLang="zh-TW" dirty="0"/>
              <a:t>EXP 1: LED Blink</a:t>
            </a:r>
            <a:endParaRPr lang="zh-TW" altLang="en-US" dirty="0"/>
          </a:p>
        </p:txBody>
      </p:sp>
      <p:sp>
        <p:nvSpPr>
          <p:cNvPr id="15363" name="內容版面配置區 7">
            <a:extLst>
              <a:ext uri="{FF2B5EF4-FFF2-40B4-BE49-F238E27FC236}">
                <a16:creationId xmlns:a16="http://schemas.microsoft.com/office/drawing/2014/main" id="{FD116488-B24C-4A3D-A0DB-70EDA8548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6449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TW" sz="2000" dirty="0">
                <a:latin typeface="Verdana" panose="020B0604030504040204" pitchFamily="34" charset="0"/>
                <a:ea typeface="Verdana" panose="020B0604030504040204" pitchFamily="34" charset="0"/>
              </a:rPr>
              <a:t>Call delay function in main loop</a:t>
            </a:r>
          </a:p>
          <a:p>
            <a:pPr>
              <a:defRPr/>
            </a:pPr>
            <a:r>
              <a:rPr lang="en-US" altLang="zh-TW" sz="2000" dirty="0">
                <a:latin typeface="Verdana" panose="020B0604030504040204" pitchFamily="34" charset="0"/>
                <a:ea typeface="Verdana" panose="020B0604030504040204" pitchFamily="34" charset="0"/>
              </a:rPr>
              <a:t>Use GPIO to make LED blink</a:t>
            </a:r>
          </a:p>
          <a:p>
            <a:pPr>
              <a:defRPr/>
            </a:pPr>
            <a:endParaRPr lang="en-US" altLang="zh-TW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defRPr/>
            </a:pPr>
            <a:r>
              <a:rPr lang="en-US" altLang="zh-TW" sz="2000" dirty="0">
                <a:latin typeface="Verdana" panose="020B0604030504040204" pitchFamily="34" charset="0"/>
                <a:ea typeface="Verdana" panose="020B0604030504040204" pitchFamily="34" charset="0"/>
              </a:rPr>
              <a:t>Interface</a:t>
            </a:r>
          </a:p>
          <a:p>
            <a:pPr lvl="1">
              <a:defRPr/>
            </a:pPr>
            <a:r>
              <a:rPr lang="en-US" altLang="zh-TW" sz="1800" dirty="0">
                <a:solidFill>
                  <a:srgbClr val="80F9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GPIO (Output)</a:t>
            </a:r>
          </a:p>
        </p:txBody>
      </p:sp>
      <p:sp>
        <p:nvSpPr>
          <p:cNvPr id="10244" name="投影片編號版面配置區 1">
            <a:extLst>
              <a:ext uri="{FF2B5EF4-FFF2-40B4-BE49-F238E27FC236}">
                <a16:creationId xmlns:a16="http://schemas.microsoft.com/office/drawing/2014/main" id="{C190B36A-0228-481E-9AB6-9D5AFC776AB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B9BEA9F-CDDE-4675-896F-A777A8996686}" type="slidenum">
              <a:rPr lang="zh-TW" altLang="en-US" sz="1200">
                <a:solidFill>
                  <a:srgbClr val="EBF1DE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zh-TW" altLang="en-US" sz="1200">
              <a:solidFill>
                <a:srgbClr val="EBF1DE"/>
              </a:solidFill>
              <a:latin typeface="Arial Unicode MS" panose="020B0604020202020204" pitchFamily="34" charset="-120"/>
              <a:ea typeface="Arial Unicode MS" panose="020B060402020202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70425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6">
            <a:extLst>
              <a:ext uri="{FF2B5EF4-FFF2-40B4-BE49-F238E27FC236}">
                <a16:creationId xmlns:a16="http://schemas.microsoft.com/office/drawing/2014/main" id="{FF0A3592-A40E-421D-871D-BEAD7F699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7638"/>
            <a:ext cx="5472113" cy="857250"/>
          </a:xfrm>
        </p:spPr>
        <p:txBody>
          <a:bodyPr/>
          <a:lstStyle/>
          <a:p>
            <a:r>
              <a:rPr lang="en-US" altLang="zh-TW" dirty="0"/>
              <a:t>EXP 2: 7-Segment Display</a:t>
            </a:r>
            <a:endParaRPr lang="zh-TW" altLang="en-US" dirty="0"/>
          </a:p>
        </p:txBody>
      </p:sp>
      <p:sp>
        <p:nvSpPr>
          <p:cNvPr id="15363" name="內容版面配置區 7">
            <a:extLst>
              <a:ext uri="{FF2B5EF4-FFF2-40B4-BE49-F238E27FC236}">
                <a16:creationId xmlns:a16="http://schemas.microsoft.com/office/drawing/2014/main" id="{FD116488-B24C-4A3D-A0DB-70EDA8548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6449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TW" sz="2000" dirty="0">
                <a:latin typeface="Verdana" panose="020B0604030504040204" pitchFamily="34" charset="0"/>
                <a:ea typeface="Verdana" panose="020B0604030504040204" pitchFamily="34" charset="0"/>
              </a:rPr>
              <a:t>Call delay function in main loop</a:t>
            </a:r>
          </a:p>
          <a:p>
            <a:pPr>
              <a:defRPr/>
            </a:pPr>
            <a:r>
              <a:rPr lang="en-US" altLang="zh-TW" sz="2000" dirty="0">
                <a:latin typeface="Verdana" panose="020B0604030504040204" pitchFamily="34" charset="0"/>
                <a:ea typeface="Verdana" panose="020B0604030504040204" pitchFamily="34" charset="0"/>
              </a:rPr>
              <a:t>Show 3210 with 7-Segment Display</a:t>
            </a:r>
          </a:p>
          <a:p>
            <a:pPr>
              <a:defRPr/>
            </a:pPr>
            <a:endParaRPr lang="en-US" altLang="zh-TW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defRPr/>
            </a:pPr>
            <a:r>
              <a:rPr lang="en-US" altLang="zh-TW" sz="2000" dirty="0">
                <a:latin typeface="Verdana" panose="020B0604030504040204" pitchFamily="34" charset="0"/>
                <a:ea typeface="Verdana" panose="020B0604030504040204" pitchFamily="34" charset="0"/>
              </a:rPr>
              <a:t>Interface</a:t>
            </a:r>
          </a:p>
          <a:p>
            <a:pPr lvl="1">
              <a:defRPr/>
            </a:pPr>
            <a:r>
              <a:rPr lang="en-US" altLang="zh-TW" sz="1800" dirty="0">
                <a:solidFill>
                  <a:srgbClr val="80F9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GPIO (Output)</a:t>
            </a:r>
          </a:p>
        </p:txBody>
      </p:sp>
      <p:sp>
        <p:nvSpPr>
          <p:cNvPr id="10244" name="投影片編號版面配置區 1">
            <a:extLst>
              <a:ext uri="{FF2B5EF4-FFF2-40B4-BE49-F238E27FC236}">
                <a16:creationId xmlns:a16="http://schemas.microsoft.com/office/drawing/2014/main" id="{C190B36A-0228-481E-9AB6-9D5AFC776AB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B9BEA9F-CDDE-4675-896F-A777A8996686}" type="slidenum">
              <a:rPr lang="zh-TW" altLang="en-US" sz="1200">
                <a:solidFill>
                  <a:srgbClr val="EBF1DE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zh-TW" altLang="en-US" sz="1200">
              <a:solidFill>
                <a:srgbClr val="EBF1DE"/>
              </a:solidFill>
              <a:latin typeface="Arial Unicode MS" panose="020B0604020202020204" pitchFamily="34" charset="-120"/>
              <a:ea typeface="Arial Unicode MS" panose="020B060402020202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40573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6">
            <a:extLst>
              <a:ext uri="{FF2B5EF4-FFF2-40B4-BE49-F238E27FC236}">
                <a16:creationId xmlns:a16="http://schemas.microsoft.com/office/drawing/2014/main" id="{FF0A3592-A40E-421D-871D-BEAD7F699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7638"/>
            <a:ext cx="5472113" cy="857250"/>
          </a:xfrm>
        </p:spPr>
        <p:txBody>
          <a:bodyPr/>
          <a:lstStyle/>
          <a:p>
            <a:r>
              <a:rPr lang="en-US" altLang="zh-TW" dirty="0"/>
              <a:t>EXP 3: Control LED by Buttons</a:t>
            </a:r>
            <a:endParaRPr lang="zh-TW" altLang="en-US" dirty="0"/>
          </a:p>
        </p:txBody>
      </p:sp>
      <p:sp>
        <p:nvSpPr>
          <p:cNvPr id="15363" name="內容版面配置區 7">
            <a:extLst>
              <a:ext uri="{FF2B5EF4-FFF2-40B4-BE49-F238E27FC236}">
                <a16:creationId xmlns:a16="http://schemas.microsoft.com/office/drawing/2014/main" id="{FD116488-B24C-4A3D-A0DB-70EDA8548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6449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TW" sz="2000" dirty="0">
                <a:latin typeface="Verdana" panose="020B0604030504040204" pitchFamily="34" charset="0"/>
                <a:ea typeface="Verdana" panose="020B0604030504040204" pitchFamily="34" charset="0"/>
              </a:rPr>
              <a:t>Key Scan Mechanism</a:t>
            </a:r>
          </a:p>
          <a:p>
            <a:pPr>
              <a:defRPr/>
            </a:pPr>
            <a:r>
              <a:rPr lang="en-US" altLang="zh-TW" sz="2000" dirty="0">
                <a:latin typeface="Verdana" panose="020B0604030504040204" pitchFamily="34" charset="0"/>
                <a:ea typeface="Verdana" panose="020B0604030504040204" pitchFamily="34" charset="0"/>
              </a:rPr>
              <a:t>Switch LED On/Off with key pressed</a:t>
            </a:r>
          </a:p>
          <a:p>
            <a:pPr>
              <a:defRPr/>
            </a:pPr>
            <a:endParaRPr lang="en-US" altLang="zh-TW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defRPr/>
            </a:pPr>
            <a:r>
              <a:rPr lang="en-US" altLang="zh-TW" sz="2000" dirty="0">
                <a:latin typeface="Verdana" panose="020B0604030504040204" pitchFamily="34" charset="0"/>
                <a:ea typeface="Verdana" panose="020B0604030504040204" pitchFamily="34" charset="0"/>
              </a:rPr>
              <a:t>Interface</a:t>
            </a:r>
          </a:p>
          <a:p>
            <a:pPr lvl="1">
              <a:defRPr/>
            </a:pPr>
            <a:r>
              <a:rPr lang="en-US" altLang="zh-TW" sz="1800" dirty="0">
                <a:solidFill>
                  <a:srgbClr val="80F9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GPIO (Input/Output)</a:t>
            </a:r>
          </a:p>
        </p:txBody>
      </p:sp>
      <p:sp>
        <p:nvSpPr>
          <p:cNvPr id="10244" name="投影片編號版面配置區 1">
            <a:extLst>
              <a:ext uri="{FF2B5EF4-FFF2-40B4-BE49-F238E27FC236}">
                <a16:creationId xmlns:a16="http://schemas.microsoft.com/office/drawing/2014/main" id="{C190B36A-0228-481E-9AB6-9D5AFC776AB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B9BEA9F-CDDE-4675-896F-A777A8996686}" type="slidenum">
              <a:rPr lang="zh-TW" altLang="en-US" sz="1200">
                <a:solidFill>
                  <a:srgbClr val="EBF1DE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zh-TW" altLang="en-US" sz="1200">
              <a:solidFill>
                <a:srgbClr val="EBF1DE"/>
              </a:solidFill>
              <a:latin typeface="Arial Unicode MS" panose="020B0604020202020204" pitchFamily="34" charset="-120"/>
              <a:ea typeface="Arial Unicode MS" panose="020B060402020202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76544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6">
            <a:extLst>
              <a:ext uri="{FF2B5EF4-FFF2-40B4-BE49-F238E27FC236}">
                <a16:creationId xmlns:a16="http://schemas.microsoft.com/office/drawing/2014/main" id="{FF0A3592-A40E-421D-871D-BEAD7F699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7638"/>
            <a:ext cx="7643192" cy="857250"/>
          </a:xfrm>
        </p:spPr>
        <p:txBody>
          <a:bodyPr/>
          <a:lstStyle/>
          <a:p>
            <a:r>
              <a:rPr lang="en-US" altLang="zh-TW" dirty="0"/>
              <a:t>EXP 4: Increase Values by Buttons</a:t>
            </a:r>
            <a:endParaRPr lang="zh-TW" altLang="en-US" dirty="0"/>
          </a:p>
        </p:txBody>
      </p:sp>
      <p:sp>
        <p:nvSpPr>
          <p:cNvPr id="15363" name="內容版面配置區 7">
            <a:extLst>
              <a:ext uri="{FF2B5EF4-FFF2-40B4-BE49-F238E27FC236}">
                <a16:creationId xmlns:a16="http://schemas.microsoft.com/office/drawing/2014/main" id="{FD116488-B24C-4A3D-A0DB-70EDA8548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6449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TW" sz="2000" dirty="0">
                <a:latin typeface="Verdana" panose="020B0604030504040204" pitchFamily="34" charset="0"/>
                <a:ea typeface="Verdana" panose="020B0604030504040204" pitchFamily="34" charset="0"/>
              </a:rPr>
              <a:t>Value adds 1 when the key is pressed</a:t>
            </a:r>
          </a:p>
          <a:p>
            <a:pPr>
              <a:defRPr/>
            </a:pPr>
            <a:r>
              <a:rPr lang="en-US" altLang="zh-TW" sz="2000" dirty="0">
                <a:latin typeface="Verdana" panose="020B0604030504040204" pitchFamily="34" charset="0"/>
                <a:ea typeface="Verdana" panose="020B0604030504040204" pitchFamily="34" charset="0"/>
              </a:rPr>
              <a:t>Display the value with 7-segment display</a:t>
            </a:r>
          </a:p>
          <a:p>
            <a:pPr>
              <a:defRPr/>
            </a:pPr>
            <a:endParaRPr lang="en-US" altLang="zh-TW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defRPr/>
            </a:pPr>
            <a:r>
              <a:rPr lang="en-US" altLang="zh-TW" sz="2000" dirty="0">
                <a:latin typeface="Verdana" panose="020B0604030504040204" pitchFamily="34" charset="0"/>
                <a:ea typeface="Verdana" panose="020B0604030504040204" pitchFamily="34" charset="0"/>
              </a:rPr>
              <a:t>Interface</a:t>
            </a:r>
          </a:p>
          <a:p>
            <a:pPr lvl="1">
              <a:defRPr/>
            </a:pPr>
            <a:r>
              <a:rPr lang="en-US" altLang="zh-TW" sz="1800" dirty="0">
                <a:solidFill>
                  <a:srgbClr val="80F9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GPIO (Output)</a:t>
            </a:r>
          </a:p>
          <a:p>
            <a:pPr lvl="1">
              <a:defRPr/>
            </a:pPr>
            <a:r>
              <a:rPr lang="en-US" altLang="zh-TW" sz="1800" dirty="0">
                <a:solidFill>
                  <a:srgbClr val="80F9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External Interrupt</a:t>
            </a:r>
          </a:p>
        </p:txBody>
      </p:sp>
      <p:sp>
        <p:nvSpPr>
          <p:cNvPr id="10244" name="投影片編號版面配置區 1">
            <a:extLst>
              <a:ext uri="{FF2B5EF4-FFF2-40B4-BE49-F238E27FC236}">
                <a16:creationId xmlns:a16="http://schemas.microsoft.com/office/drawing/2014/main" id="{C190B36A-0228-481E-9AB6-9D5AFC776AB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B9BEA9F-CDDE-4675-896F-A777A8996686}" type="slidenum">
              <a:rPr lang="zh-TW" altLang="en-US" sz="1200">
                <a:solidFill>
                  <a:srgbClr val="EBF1DE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zh-TW" altLang="en-US" sz="1200">
              <a:solidFill>
                <a:srgbClr val="EBF1DE"/>
              </a:solidFill>
              <a:latin typeface="Arial Unicode MS" panose="020B0604020202020204" pitchFamily="34" charset="-120"/>
              <a:ea typeface="Arial Unicode MS" panose="020B060402020202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91480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6">
            <a:extLst>
              <a:ext uri="{FF2B5EF4-FFF2-40B4-BE49-F238E27FC236}">
                <a16:creationId xmlns:a16="http://schemas.microsoft.com/office/drawing/2014/main" id="{FF0A3592-A40E-421D-871D-BEAD7F699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7638"/>
            <a:ext cx="7643192" cy="857250"/>
          </a:xfrm>
        </p:spPr>
        <p:txBody>
          <a:bodyPr/>
          <a:lstStyle/>
          <a:p>
            <a:r>
              <a:rPr lang="en-US" altLang="zh-TW" dirty="0"/>
              <a:t>EXP 5: Display Key Value in Hex Form</a:t>
            </a:r>
            <a:endParaRPr lang="zh-TW" altLang="en-US" dirty="0"/>
          </a:p>
        </p:txBody>
      </p:sp>
      <p:sp>
        <p:nvSpPr>
          <p:cNvPr id="15363" name="內容版面配置區 7">
            <a:extLst>
              <a:ext uri="{FF2B5EF4-FFF2-40B4-BE49-F238E27FC236}">
                <a16:creationId xmlns:a16="http://schemas.microsoft.com/office/drawing/2014/main" id="{FD116488-B24C-4A3D-A0DB-70EDA8548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6449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TW" sz="2000" dirty="0">
                <a:latin typeface="Verdana" panose="020B0604030504040204" pitchFamily="34" charset="0"/>
                <a:ea typeface="Verdana" panose="020B0604030504040204" pitchFamily="34" charset="0"/>
              </a:rPr>
              <a:t>Display the Key value in Hex form with 7-segment display</a:t>
            </a:r>
          </a:p>
          <a:p>
            <a:pPr>
              <a:defRPr/>
            </a:pPr>
            <a:endParaRPr lang="en-US" altLang="zh-TW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defRPr/>
            </a:pPr>
            <a:r>
              <a:rPr lang="en-US" altLang="zh-TW" sz="2000" dirty="0">
                <a:latin typeface="Verdana" panose="020B0604030504040204" pitchFamily="34" charset="0"/>
                <a:ea typeface="Verdana" panose="020B0604030504040204" pitchFamily="34" charset="0"/>
              </a:rPr>
              <a:t>Interface</a:t>
            </a:r>
          </a:p>
          <a:p>
            <a:pPr lvl="1">
              <a:defRPr/>
            </a:pPr>
            <a:r>
              <a:rPr lang="en-US" altLang="zh-TW" sz="1800" dirty="0">
                <a:solidFill>
                  <a:srgbClr val="80F9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GPIO (Output)</a:t>
            </a:r>
          </a:p>
          <a:p>
            <a:pPr lvl="1">
              <a:defRPr/>
            </a:pPr>
            <a:r>
              <a:rPr lang="en-US" altLang="zh-TW" sz="1800" dirty="0">
                <a:solidFill>
                  <a:srgbClr val="80F9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External Interrupt</a:t>
            </a:r>
          </a:p>
        </p:txBody>
      </p:sp>
      <p:sp>
        <p:nvSpPr>
          <p:cNvPr id="10244" name="投影片編號版面配置區 1">
            <a:extLst>
              <a:ext uri="{FF2B5EF4-FFF2-40B4-BE49-F238E27FC236}">
                <a16:creationId xmlns:a16="http://schemas.microsoft.com/office/drawing/2014/main" id="{C190B36A-0228-481E-9AB6-9D5AFC776AB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B9BEA9F-CDDE-4675-896F-A777A8996686}" type="slidenum">
              <a:rPr lang="zh-TW" altLang="en-US" sz="1200">
                <a:solidFill>
                  <a:srgbClr val="EBF1DE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zh-TW" altLang="en-US" sz="1200">
              <a:solidFill>
                <a:srgbClr val="EBF1DE"/>
              </a:solidFill>
              <a:latin typeface="Arial Unicode MS" panose="020B0604020202020204" pitchFamily="34" charset="-120"/>
              <a:ea typeface="Arial Unicode MS" panose="020B060402020202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13358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6">
            <a:extLst>
              <a:ext uri="{FF2B5EF4-FFF2-40B4-BE49-F238E27FC236}">
                <a16:creationId xmlns:a16="http://schemas.microsoft.com/office/drawing/2014/main" id="{FF0A3592-A40E-421D-871D-BEAD7F699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7638"/>
            <a:ext cx="7643192" cy="857250"/>
          </a:xfrm>
        </p:spPr>
        <p:txBody>
          <a:bodyPr/>
          <a:lstStyle/>
          <a:p>
            <a:r>
              <a:rPr lang="en-US" altLang="zh-TW" dirty="0"/>
              <a:t>EXP 6: Countdown the Time</a:t>
            </a:r>
            <a:endParaRPr lang="zh-TW" altLang="en-US" dirty="0"/>
          </a:p>
        </p:txBody>
      </p:sp>
      <p:sp>
        <p:nvSpPr>
          <p:cNvPr id="15363" name="內容版面配置區 7">
            <a:extLst>
              <a:ext uri="{FF2B5EF4-FFF2-40B4-BE49-F238E27FC236}">
                <a16:creationId xmlns:a16="http://schemas.microsoft.com/office/drawing/2014/main" id="{FD116488-B24C-4A3D-A0DB-70EDA8548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644900"/>
          </a:xfrm>
        </p:spPr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en-US" altLang="zh-TW" sz="2900" dirty="0">
                <a:latin typeface="Verdana" panose="020B0604030504040204" pitchFamily="34" charset="0"/>
                <a:ea typeface="Verdana" panose="020B0604030504040204" pitchFamily="34" charset="0"/>
              </a:rPr>
              <a:t>Enable Timer0 1-sec interrupt</a:t>
            </a:r>
          </a:p>
          <a:p>
            <a:pPr>
              <a:defRPr/>
            </a:pPr>
            <a:r>
              <a:rPr lang="en-US" altLang="zh-TW" sz="2900" dirty="0">
                <a:latin typeface="Verdana" panose="020B0604030504040204" pitchFamily="34" charset="0"/>
                <a:ea typeface="Verdana" panose="020B0604030504040204" pitchFamily="34" charset="0"/>
              </a:rPr>
              <a:t>Counter value minus 1 in Timer0_ISR</a:t>
            </a:r>
          </a:p>
          <a:p>
            <a:pPr>
              <a:defRPr/>
            </a:pPr>
            <a:r>
              <a:rPr lang="en-US" altLang="zh-TW" sz="2900" dirty="0">
                <a:latin typeface="Verdana" panose="020B0604030504040204" pitchFamily="34" charset="0"/>
                <a:ea typeface="Verdana" panose="020B0604030504040204" pitchFamily="34" charset="0"/>
              </a:rPr>
              <a:t>Display the counter value with 7-segment display</a:t>
            </a:r>
          </a:p>
          <a:p>
            <a:pPr>
              <a:defRPr/>
            </a:pPr>
            <a:endParaRPr lang="en-US" altLang="zh-TW" sz="29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defRPr/>
            </a:pPr>
            <a:r>
              <a:rPr lang="en-US" altLang="zh-TW" sz="2900" dirty="0">
                <a:latin typeface="Verdana" panose="020B0604030504040204" pitchFamily="34" charset="0"/>
                <a:ea typeface="Verdana" panose="020B0604030504040204" pitchFamily="34" charset="0"/>
              </a:rPr>
              <a:t>Interface</a:t>
            </a:r>
          </a:p>
          <a:p>
            <a:pPr lvl="1">
              <a:defRPr/>
            </a:pPr>
            <a:r>
              <a:rPr lang="en-US" altLang="zh-TW" sz="2600" dirty="0">
                <a:solidFill>
                  <a:srgbClr val="80F9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GPIO (Output)</a:t>
            </a:r>
          </a:p>
          <a:p>
            <a:pPr lvl="1">
              <a:defRPr/>
            </a:pPr>
            <a:r>
              <a:rPr lang="en-US" altLang="zh-TW" sz="2600" dirty="0">
                <a:solidFill>
                  <a:srgbClr val="80F9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Timer0 (Interrupt)</a:t>
            </a:r>
          </a:p>
        </p:txBody>
      </p:sp>
      <p:sp>
        <p:nvSpPr>
          <p:cNvPr id="10244" name="投影片編號版面配置區 1">
            <a:extLst>
              <a:ext uri="{FF2B5EF4-FFF2-40B4-BE49-F238E27FC236}">
                <a16:creationId xmlns:a16="http://schemas.microsoft.com/office/drawing/2014/main" id="{C190B36A-0228-481E-9AB6-9D5AFC776AB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B9BEA9F-CDDE-4675-896F-A777A8996686}" type="slidenum">
              <a:rPr lang="zh-TW" altLang="en-US" sz="1200">
                <a:solidFill>
                  <a:srgbClr val="EBF1DE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zh-TW" altLang="en-US" sz="1200">
              <a:solidFill>
                <a:srgbClr val="EBF1DE"/>
              </a:solidFill>
              <a:latin typeface="Arial Unicode MS" panose="020B0604020202020204" pitchFamily="34" charset="-120"/>
              <a:ea typeface="Arial Unicode MS" panose="020B060402020202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27749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6">
            <a:extLst>
              <a:ext uri="{FF2B5EF4-FFF2-40B4-BE49-F238E27FC236}">
                <a16:creationId xmlns:a16="http://schemas.microsoft.com/office/drawing/2014/main" id="{FF0A3592-A40E-421D-871D-BEAD7F699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7638"/>
            <a:ext cx="7643192" cy="857250"/>
          </a:xfrm>
        </p:spPr>
        <p:txBody>
          <a:bodyPr/>
          <a:lstStyle/>
          <a:p>
            <a:r>
              <a:rPr lang="en-US" altLang="zh-TW" dirty="0"/>
              <a:t>EXP 7: Measure Voltage on Potentiometer</a:t>
            </a:r>
            <a:endParaRPr lang="zh-TW" altLang="en-US" dirty="0"/>
          </a:p>
        </p:txBody>
      </p:sp>
      <p:sp>
        <p:nvSpPr>
          <p:cNvPr id="15363" name="內容版面配置區 7">
            <a:extLst>
              <a:ext uri="{FF2B5EF4-FFF2-40B4-BE49-F238E27FC236}">
                <a16:creationId xmlns:a16="http://schemas.microsoft.com/office/drawing/2014/main" id="{FD116488-B24C-4A3D-A0DB-70EDA8548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6449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TW" sz="2000" dirty="0">
                <a:latin typeface="Verdana" panose="020B0604030504040204" pitchFamily="34" charset="0"/>
                <a:ea typeface="Verdana" panose="020B0604030504040204" pitchFamily="34" charset="0"/>
              </a:rPr>
              <a:t>Display the ADC measured value with 7-segment display</a:t>
            </a:r>
          </a:p>
          <a:p>
            <a:pPr>
              <a:defRPr/>
            </a:pPr>
            <a:endParaRPr lang="en-US" altLang="zh-TW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defRPr/>
            </a:pPr>
            <a:r>
              <a:rPr lang="en-US" altLang="zh-TW" sz="2000" dirty="0">
                <a:latin typeface="Verdana" panose="020B0604030504040204" pitchFamily="34" charset="0"/>
                <a:ea typeface="Verdana" panose="020B0604030504040204" pitchFamily="34" charset="0"/>
              </a:rPr>
              <a:t>Interface</a:t>
            </a:r>
          </a:p>
          <a:p>
            <a:pPr lvl="1">
              <a:defRPr/>
            </a:pPr>
            <a:r>
              <a:rPr lang="en-US" altLang="zh-TW" sz="1800" dirty="0">
                <a:solidFill>
                  <a:srgbClr val="80F9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GPIO (Output)</a:t>
            </a:r>
          </a:p>
          <a:p>
            <a:pPr lvl="1">
              <a:defRPr/>
            </a:pPr>
            <a:r>
              <a:rPr lang="en-US" altLang="zh-TW" sz="1800" dirty="0">
                <a:solidFill>
                  <a:srgbClr val="80F9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Timer0 (Interrupt)</a:t>
            </a:r>
          </a:p>
        </p:txBody>
      </p:sp>
      <p:sp>
        <p:nvSpPr>
          <p:cNvPr id="10244" name="投影片編號版面配置區 1">
            <a:extLst>
              <a:ext uri="{FF2B5EF4-FFF2-40B4-BE49-F238E27FC236}">
                <a16:creationId xmlns:a16="http://schemas.microsoft.com/office/drawing/2014/main" id="{C190B36A-0228-481E-9AB6-9D5AFC776AB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B9BEA9F-CDDE-4675-896F-A777A8996686}" type="slidenum">
              <a:rPr lang="zh-TW" altLang="en-US" sz="1200">
                <a:solidFill>
                  <a:srgbClr val="EBF1DE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zh-TW" altLang="en-US" sz="1200">
              <a:solidFill>
                <a:srgbClr val="EBF1DE"/>
              </a:solidFill>
              <a:latin typeface="Arial Unicode MS" panose="020B0604020202020204" pitchFamily="34" charset="-120"/>
              <a:ea typeface="Arial Unicode MS" panose="020B060402020202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74779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6">
            <a:extLst>
              <a:ext uri="{FF2B5EF4-FFF2-40B4-BE49-F238E27FC236}">
                <a16:creationId xmlns:a16="http://schemas.microsoft.com/office/drawing/2014/main" id="{FF0A3592-A40E-421D-871D-BEAD7F699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7638"/>
            <a:ext cx="7643192" cy="857250"/>
          </a:xfrm>
        </p:spPr>
        <p:txBody>
          <a:bodyPr/>
          <a:lstStyle/>
          <a:p>
            <a:r>
              <a:rPr lang="en-US" altLang="zh-TW" dirty="0"/>
              <a:t>EXP 8: Adjust Pitch of the Buzzer</a:t>
            </a:r>
            <a:endParaRPr lang="zh-TW" altLang="en-US" dirty="0"/>
          </a:p>
        </p:txBody>
      </p:sp>
      <p:sp>
        <p:nvSpPr>
          <p:cNvPr id="15363" name="內容版面配置區 7">
            <a:extLst>
              <a:ext uri="{FF2B5EF4-FFF2-40B4-BE49-F238E27FC236}">
                <a16:creationId xmlns:a16="http://schemas.microsoft.com/office/drawing/2014/main" id="{FD116488-B24C-4A3D-A0DB-70EDA8548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6449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TW" sz="2000" dirty="0">
                <a:latin typeface="Verdana" panose="020B0604030504040204" pitchFamily="34" charset="0"/>
                <a:ea typeface="Verdana" panose="020B0604030504040204" pitchFamily="34" charset="0"/>
              </a:rPr>
              <a:t>Adjust the pitch of the buzzer with Buttons</a:t>
            </a:r>
          </a:p>
          <a:p>
            <a:pPr>
              <a:defRPr/>
            </a:pPr>
            <a:endParaRPr lang="en-US" altLang="zh-TW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defRPr/>
            </a:pPr>
            <a:r>
              <a:rPr lang="en-US" altLang="zh-TW" sz="2000" dirty="0">
                <a:latin typeface="Verdana" panose="020B0604030504040204" pitchFamily="34" charset="0"/>
                <a:ea typeface="Verdana" panose="020B0604030504040204" pitchFamily="34" charset="0"/>
              </a:rPr>
              <a:t>Interface</a:t>
            </a:r>
          </a:p>
          <a:p>
            <a:pPr lvl="1">
              <a:defRPr/>
            </a:pPr>
            <a:r>
              <a:rPr lang="en-US" altLang="zh-TW" sz="1800" dirty="0">
                <a:solidFill>
                  <a:srgbClr val="80F9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GPIO (Input)</a:t>
            </a:r>
          </a:p>
          <a:p>
            <a:pPr lvl="1">
              <a:defRPr/>
            </a:pPr>
            <a:r>
              <a:rPr lang="en-US" altLang="zh-TW" sz="1800" dirty="0">
                <a:solidFill>
                  <a:srgbClr val="80F9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External Interrupt</a:t>
            </a:r>
          </a:p>
          <a:p>
            <a:pPr lvl="1">
              <a:defRPr/>
            </a:pPr>
            <a:r>
              <a:rPr lang="en-US" altLang="zh-TW" sz="1800" dirty="0">
                <a:solidFill>
                  <a:srgbClr val="80F9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PWM</a:t>
            </a:r>
          </a:p>
        </p:txBody>
      </p:sp>
      <p:sp>
        <p:nvSpPr>
          <p:cNvPr id="10244" name="投影片編號版面配置區 1">
            <a:extLst>
              <a:ext uri="{FF2B5EF4-FFF2-40B4-BE49-F238E27FC236}">
                <a16:creationId xmlns:a16="http://schemas.microsoft.com/office/drawing/2014/main" id="{C190B36A-0228-481E-9AB6-9D5AFC776AB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B9BEA9F-CDDE-4675-896F-A777A8996686}" type="slidenum">
              <a:rPr lang="zh-TW" altLang="en-US" sz="1200">
                <a:solidFill>
                  <a:srgbClr val="EBF1DE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zh-TW" altLang="en-US" sz="1200">
              <a:solidFill>
                <a:srgbClr val="EBF1DE"/>
              </a:solidFill>
              <a:latin typeface="Arial Unicode MS" panose="020B0604020202020204" pitchFamily="34" charset="-120"/>
              <a:ea typeface="Arial Unicode MS" panose="020B060402020202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9B636F3-EFEC-49CA-B9EC-B710688D3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9890" y="1923678"/>
            <a:ext cx="3865562" cy="2812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798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6">
            <a:extLst>
              <a:ext uri="{FF2B5EF4-FFF2-40B4-BE49-F238E27FC236}">
                <a16:creationId xmlns:a16="http://schemas.microsoft.com/office/drawing/2014/main" id="{FF0A3592-A40E-421D-871D-BEAD7F699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7638"/>
            <a:ext cx="7643192" cy="857250"/>
          </a:xfrm>
        </p:spPr>
        <p:txBody>
          <a:bodyPr/>
          <a:lstStyle/>
          <a:p>
            <a:r>
              <a:rPr lang="en-US" altLang="zh-TW" dirty="0"/>
              <a:t>EXP 9: UART Transceiver</a:t>
            </a:r>
            <a:endParaRPr lang="zh-TW" altLang="en-US" dirty="0"/>
          </a:p>
        </p:txBody>
      </p:sp>
      <p:sp>
        <p:nvSpPr>
          <p:cNvPr id="15363" name="內容版面配置區 7">
            <a:extLst>
              <a:ext uri="{FF2B5EF4-FFF2-40B4-BE49-F238E27FC236}">
                <a16:creationId xmlns:a16="http://schemas.microsoft.com/office/drawing/2014/main" id="{FD116488-B24C-4A3D-A0DB-70EDA8548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6449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TW" sz="2000" dirty="0">
                <a:latin typeface="Verdana" panose="020B0604030504040204" pitchFamily="34" charset="0"/>
                <a:ea typeface="Verdana" panose="020B0604030504040204" pitchFamily="34" charset="0"/>
              </a:rPr>
              <a:t>UART</a:t>
            </a:r>
            <a:r>
              <a:rPr lang="zh-TW" alt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altLang="zh-TW" sz="2000" dirty="0">
                <a:latin typeface="Verdana" panose="020B0604030504040204" pitchFamily="34" charset="0"/>
                <a:ea typeface="Verdana" panose="020B0604030504040204" pitchFamily="34" charset="0"/>
              </a:rPr>
              <a:t>MODE</a:t>
            </a:r>
            <a:r>
              <a:rPr lang="zh-TW" alt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altLang="zh-TW" sz="2000" dirty="0">
                <a:latin typeface="Verdana" panose="020B0604030504040204" pitchFamily="34" charset="0"/>
                <a:ea typeface="Verdana" panose="020B0604030504040204" pitchFamily="34" charset="0"/>
              </a:rPr>
              <a:t>1</a:t>
            </a:r>
          </a:p>
          <a:p>
            <a:pPr>
              <a:defRPr/>
            </a:pPr>
            <a:r>
              <a:rPr lang="en-US" altLang="zh-TW" sz="2000" dirty="0">
                <a:latin typeface="Verdana" panose="020B0604030504040204" pitchFamily="34" charset="0"/>
                <a:ea typeface="Verdana" panose="020B0604030504040204" pitchFamily="34" charset="0"/>
              </a:rPr>
              <a:t>Baud rate 9600</a:t>
            </a:r>
          </a:p>
          <a:p>
            <a:pPr>
              <a:defRPr/>
            </a:pPr>
            <a:r>
              <a:rPr lang="en-US" altLang="zh-TW" sz="2000" dirty="0">
                <a:latin typeface="Verdana" panose="020B0604030504040204" pitchFamily="34" charset="0"/>
                <a:ea typeface="Verdana" panose="020B0604030504040204" pitchFamily="34" charset="0"/>
              </a:rPr>
              <a:t>Receive then Transmit the same character</a:t>
            </a:r>
            <a:r>
              <a:rPr lang="zh-TW" alt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endParaRPr lang="en-US" altLang="zh-TW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defRPr/>
            </a:pPr>
            <a:endParaRPr lang="en-US" altLang="zh-TW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defRPr/>
            </a:pPr>
            <a:r>
              <a:rPr lang="en-US" altLang="zh-TW" sz="2000" dirty="0">
                <a:latin typeface="Verdana" panose="020B0604030504040204" pitchFamily="34" charset="0"/>
                <a:ea typeface="Verdana" panose="020B0604030504040204" pitchFamily="34" charset="0"/>
              </a:rPr>
              <a:t>Interface</a:t>
            </a:r>
          </a:p>
          <a:p>
            <a:pPr lvl="1">
              <a:defRPr/>
            </a:pPr>
            <a:r>
              <a:rPr lang="en-US" altLang="zh-TW" sz="1800" dirty="0">
                <a:solidFill>
                  <a:srgbClr val="80F9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UART</a:t>
            </a:r>
          </a:p>
        </p:txBody>
      </p:sp>
      <p:sp>
        <p:nvSpPr>
          <p:cNvPr id="10244" name="投影片編號版面配置區 1">
            <a:extLst>
              <a:ext uri="{FF2B5EF4-FFF2-40B4-BE49-F238E27FC236}">
                <a16:creationId xmlns:a16="http://schemas.microsoft.com/office/drawing/2014/main" id="{C190B36A-0228-481E-9AB6-9D5AFC776AB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B9BEA9F-CDDE-4675-896F-A777A8996686}" type="slidenum">
              <a:rPr lang="zh-TW" altLang="en-US" sz="1200">
                <a:solidFill>
                  <a:srgbClr val="EBF1DE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zh-TW" altLang="en-US" sz="1200">
              <a:solidFill>
                <a:srgbClr val="EBF1DE"/>
              </a:solidFill>
              <a:latin typeface="Arial Unicode MS" panose="020B0604020202020204" pitchFamily="34" charset="-120"/>
              <a:ea typeface="Arial Unicode MS" panose="020B060402020202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55000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6">
            <a:extLst>
              <a:ext uri="{FF2B5EF4-FFF2-40B4-BE49-F238E27FC236}">
                <a16:creationId xmlns:a16="http://schemas.microsoft.com/office/drawing/2014/main" id="{FF0A3592-A40E-421D-871D-BEAD7F699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7638"/>
            <a:ext cx="7643192" cy="857250"/>
          </a:xfrm>
        </p:spPr>
        <p:txBody>
          <a:bodyPr/>
          <a:lstStyle/>
          <a:p>
            <a:r>
              <a:rPr lang="en-US" altLang="zh-TW" dirty="0"/>
              <a:t>EXP 10: R/W SPI</a:t>
            </a:r>
            <a:r>
              <a:rPr lang="zh-TW" altLang="en-US" dirty="0"/>
              <a:t> </a:t>
            </a:r>
            <a:r>
              <a:rPr lang="en-US" altLang="zh-TW" dirty="0"/>
              <a:t>Flash with Button Matrix</a:t>
            </a:r>
            <a:endParaRPr lang="zh-TW" altLang="en-US" dirty="0"/>
          </a:p>
        </p:txBody>
      </p:sp>
      <p:sp>
        <p:nvSpPr>
          <p:cNvPr id="15363" name="內容版面配置區 7">
            <a:extLst>
              <a:ext uri="{FF2B5EF4-FFF2-40B4-BE49-F238E27FC236}">
                <a16:creationId xmlns:a16="http://schemas.microsoft.com/office/drawing/2014/main" id="{FD116488-B24C-4A3D-A0DB-70EDA8548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6449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TW" dirty="0">
                <a:latin typeface="Verdana" panose="020B0604030504040204" pitchFamily="34" charset="0"/>
                <a:ea typeface="Verdana" panose="020B0604030504040204" pitchFamily="34" charset="0"/>
              </a:rPr>
              <a:t>Read/write SPI Flash with Button matrix.</a:t>
            </a:r>
          </a:p>
          <a:p>
            <a:pPr>
              <a:defRPr/>
            </a:pPr>
            <a:endParaRPr lang="en-US" altLang="zh-TW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defRPr/>
            </a:pPr>
            <a:r>
              <a:rPr lang="en-US" altLang="zh-TW" dirty="0">
                <a:latin typeface="Verdana" panose="020B0604030504040204" pitchFamily="34" charset="0"/>
                <a:ea typeface="Verdana" panose="020B0604030504040204" pitchFamily="34" charset="0"/>
              </a:rPr>
              <a:t>Interface</a:t>
            </a:r>
          </a:p>
          <a:p>
            <a:pPr lvl="1">
              <a:defRPr/>
            </a:pPr>
            <a:r>
              <a:rPr lang="en-US" altLang="zh-TW" dirty="0">
                <a:solidFill>
                  <a:srgbClr val="80F9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GPIO (Input)</a:t>
            </a:r>
          </a:p>
          <a:p>
            <a:pPr lvl="1">
              <a:defRPr/>
            </a:pPr>
            <a:r>
              <a:rPr lang="en-US" altLang="zh-TW" dirty="0">
                <a:solidFill>
                  <a:srgbClr val="80F9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External Interrupt</a:t>
            </a:r>
          </a:p>
          <a:p>
            <a:pPr lvl="1">
              <a:defRPr/>
            </a:pPr>
            <a:r>
              <a:rPr lang="en-US" altLang="zh-TW" dirty="0">
                <a:solidFill>
                  <a:srgbClr val="80F9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SPI (Master mode 0)</a:t>
            </a:r>
          </a:p>
        </p:txBody>
      </p:sp>
      <p:sp>
        <p:nvSpPr>
          <p:cNvPr id="10244" name="投影片編號版面配置區 1">
            <a:extLst>
              <a:ext uri="{FF2B5EF4-FFF2-40B4-BE49-F238E27FC236}">
                <a16:creationId xmlns:a16="http://schemas.microsoft.com/office/drawing/2014/main" id="{C190B36A-0228-481E-9AB6-9D5AFC776AB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B9BEA9F-CDDE-4675-896F-A777A8996686}" type="slidenum">
              <a:rPr lang="zh-TW" altLang="en-US" sz="1200">
                <a:solidFill>
                  <a:srgbClr val="EBF1DE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zh-TW" altLang="en-US" sz="1200">
              <a:solidFill>
                <a:srgbClr val="EBF1DE"/>
              </a:solidFill>
              <a:latin typeface="Arial Unicode MS" panose="020B0604020202020204" pitchFamily="34" charset="-120"/>
              <a:ea typeface="Arial Unicode MS" panose="020B0604020202020204" pitchFamily="34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D518249-D8B0-4800-962F-0FDC62E55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779662"/>
            <a:ext cx="3838575" cy="283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7007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6">
            <a:extLst>
              <a:ext uri="{FF2B5EF4-FFF2-40B4-BE49-F238E27FC236}">
                <a16:creationId xmlns:a16="http://schemas.microsoft.com/office/drawing/2014/main" id="{FF0A3592-A40E-421D-871D-BEAD7F699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7638"/>
            <a:ext cx="7643192" cy="857250"/>
          </a:xfrm>
        </p:spPr>
        <p:txBody>
          <a:bodyPr/>
          <a:lstStyle/>
          <a:p>
            <a:r>
              <a:rPr lang="en-US" altLang="zh-TW" dirty="0"/>
              <a:t>EXP 11: R/W EEPROM with Button Matrix</a:t>
            </a:r>
            <a:endParaRPr lang="zh-TW" altLang="en-US" dirty="0"/>
          </a:p>
        </p:txBody>
      </p:sp>
      <p:sp>
        <p:nvSpPr>
          <p:cNvPr id="15363" name="內容版面配置區 7">
            <a:extLst>
              <a:ext uri="{FF2B5EF4-FFF2-40B4-BE49-F238E27FC236}">
                <a16:creationId xmlns:a16="http://schemas.microsoft.com/office/drawing/2014/main" id="{FD116488-B24C-4A3D-A0DB-70EDA8548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6449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TW" dirty="0">
                <a:latin typeface="Verdana" panose="020B0604030504040204" pitchFamily="34" charset="0"/>
                <a:ea typeface="Verdana" panose="020B0604030504040204" pitchFamily="34" charset="0"/>
              </a:rPr>
              <a:t>Read/write EEPROM with Button matrix.</a:t>
            </a:r>
          </a:p>
          <a:p>
            <a:pPr>
              <a:defRPr/>
            </a:pPr>
            <a:endParaRPr lang="en-US" altLang="zh-TW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defRPr/>
            </a:pPr>
            <a:r>
              <a:rPr lang="en-US" altLang="zh-TW" dirty="0">
                <a:latin typeface="Verdana" panose="020B0604030504040204" pitchFamily="34" charset="0"/>
                <a:ea typeface="Verdana" panose="020B0604030504040204" pitchFamily="34" charset="0"/>
              </a:rPr>
              <a:t>Interface</a:t>
            </a:r>
          </a:p>
          <a:p>
            <a:pPr lvl="1">
              <a:defRPr/>
            </a:pPr>
            <a:r>
              <a:rPr lang="en-US" altLang="zh-TW" dirty="0">
                <a:solidFill>
                  <a:srgbClr val="80F9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GPIO (Input)</a:t>
            </a:r>
          </a:p>
          <a:p>
            <a:pPr lvl="1">
              <a:defRPr/>
            </a:pPr>
            <a:r>
              <a:rPr lang="en-US" altLang="zh-TW" dirty="0">
                <a:solidFill>
                  <a:srgbClr val="80F9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External Interrupt</a:t>
            </a:r>
          </a:p>
          <a:p>
            <a:pPr lvl="1">
              <a:defRPr/>
            </a:pPr>
            <a:r>
              <a:rPr lang="en-US" altLang="zh-TW" dirty="0">
                <a:solidFill>
                  <a:srgbClr val="80F9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I2C (Master mode)</a:t>
            </a:r>
          </a:p>
        </p:txBody>
      </p:sp>
      <p:sp>
        <p:nvSpPr>
          <p:cNvPr id="10244" name="投影片編號版面配置區 1">
            <a:extLst>
              <a:ext uri="{FF2B5EF4-FFF2-40B4-BE49-F238E27FC236}">
                <a16:creationId xmlns:a16="http://schemas.microsoft.com/office/drawing/2014/main" id="{C190B36A-0228-481E-9AB6-9D5AFC776AB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B9BEA9F-CDDE-4675-896F-A777A8996686}" type="slidenum">
              <a:rPr lang="zh-TW" altLang="en-US" sz="1200">
                <a:solidFill>
                  <a:srgbClr val="EBF1DE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zh-TW" altLang="en-US" sz="1200">
              <a:solidFill>
                <a:srgbClr val="EBF1DE"/>
              </a:solidFill>
              <a:latin typeface="Arial Unicode MS" panose="020B0604020202020204" pitchFamily="34" charset="-120"/>
              <a:ea typeface="Arial Unicode MS" panose="020B0604020202020204" pitchFamily="34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D518249-D8B0-4800-962F-0FDC62E55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779662"/>
            <a:ext cx="3838575" cy="283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634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6">
            <a:extLst>
              <a:ext uri="{FF2B5EF4-FFF2-40B4-BE49-F238E27FC236}">
                <a16:creationId xmlns:a16="http://schemas.microsoft.com/office/drawing/2014/main" id="{FF0A3592-A40E-421D-871D-BEAD7F699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7638"/>
            <a:ext cx="5472113" cy="857250"/>
          </a:xfrm>
        </p:spPr>
        <p:txBody>
          <a:bodyPr/>
          <a:lstStyle/>
          <a:p>
            <a:r>
              <a:rPr lang="en-US" altLang="zh-TW" dirty="0"/>
              <a:t>Core Competence</a:t>
            </a:r>
            <a:endParaRPr lang="zh-TW" altLang="en-US" dirty="0"/>
          </a:p>
        </p:txBody>
      </p:sp>
      <p:sp>
        <p:nvSpPr>
          <p:cNvPr id="15363" name="內容版面配置區 7">
            <a:extLst>
              <a:ext uri="{FF2B5EF4-FFF2-40B4-BE49-F238E27FC236}">
                <a16:creationId xmlns:a16="http://schemas.microsoft.com/office/drawing/2014/main" id="{FD116488-B24C-4A3D-A0DB-70EDA8548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644900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 altLang="zh-TW" dirty="0">
                <a:latin typeface="Verdana" panose="020B0604030504040204" pitchFamily="34" charset="0"/>
                <a:ea typeface="Verdana" panose="020B0604030504040204" pitchFamily="34" charset="0"/>
              </a:rPr>
              <a:t>Precise lead time in the consumer IC industry</a:t>
            </a:r>
          </a:p>
          <a:p>
            <a:pPr lvl="1">
              <a:defRPr/>
            </a:pPr>
            <a:r>
              <a:rPr lang="en-US" altLang="zh-TW" dirty="0">
                <a:solidFill>
                  <a:srgbClr val="80F9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Competitive pricing by implementing advanced IC circuit &amp; system design</a:t>
            </a:r>
          </a:p>
          <a:p>
            <a:pPr>
              <a:defRPr/>
            </a:pPr>
            <a:r>
              <a:rPr lang="en-US" altLang="zh-TW" dirty="0">
                <a:latin typeface="Verdana" panose="020B0604030504040204" pitchFamily="34" charset="0"/>
                <a:ea typeface="Verdana" panose="020B0604030504040204" pitchFamily="34" charset="0"/>
              </a:rPr>
              <a:t>Custom ICs to meet customer’s projects </a:t>
            </a:r>
          </a:p>
          <a:p>
            <a:pPr lvl="1">
              <a:defRPr/>
            </a:pPr>
            <a:r>
              <a:rPr lang="en-US" altLang="zh-TW" dirty="0">
                <a:solidFill>
                  <a:srgbClr val="80F9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Extensive agent offices for sales and technical support </a:t>
            </a:r>
          </a:p>
          <a:p>
            <a:pPr>
              <a:defRPr/>
            </a:pPr>
            <a:r>
              <a:rPr lang="zh-TW" altLang="en-US" dirty="0"/>
              <a:t>建議字型：中文字型</a:t>
            </a:r>
            <a:r>
              <a:rPr lang="en-US" altLang="zh-TW" dirty="0"/>
              <a:t>- </a:t>
            </a:r>
            <a:r>
              <a:rPr lang="zh-TW" altLang="en-US" dirty="0"/>
              <a:t>微軟正黑體  ；</a:t>
            </a:r>
            <a:r>
              <a:rPr lang="en-US" altLang="zh-TW" dirty="0"/>
              <a:t>  </a:t>
            </a:r>
            <a:r>
              <a:rPr lang="zh-TW" altLang="en-US" dirty="0"/>
              <a:t>英文字型 </a:t>
            </a:r>
            <a:r>
              <a:rPr lang="en-US" altLang="zh-TW" dirty="0"/>
              <a:t>- Verdana</a:t>
            </a:r>
          </a:p>
          <a:p>
            <a:pPr>
              <a:defRPr/>
            </a:pPr>
            <a:r>
              <a:rPr lang="zh-TW" altLang="en-US" dirty="0"/>
              <a:t>會議室投影建議：內文最小字型建議至少</a:t>
            </a:r>
            <a:r>
              <a:rPr lang="en-US" altLang="zh-TW" dirty="0"/>
              <a:t>14</a:t>
            </a:r>
            <a:r>
              <a:rPr lang="zh-TW" altLang="en-US" dirty="0"/>
              <a:t>級字</a:t>
            </a:r>
            <a:endParaRPr lang="en-US" altLang="zh-TW" dirty="0"/>
          </a:p>
          <a:p>
            <a:pPr>
              <a:defRPr/>
            </a:pPr>
            <a:r>
              <a:rPr lang="zh-TW" altLang="en-US" dirty="0"/>
              <a:t>配色參考：</a:t>
            </a:r>
            <a:endParaRPr lang="en-US" altLang="zh-TW" dirty="0"/>
          </a:p>
        </p:txBody>
      </p:sp>
      <p:sp>
        <p:nvSpPr>
          <p:cNvPr id="10244" name="投影片編號版面配置區 1">
            <a:extLst>
              <a:ext uri="{FF2B5EF4-FFF2-40B4-BE49-F238E27FC236}">
                <a16:creationId xmlns:a16="http://schemas.microsoft.com/office/drawing/2014/main" id="{C190B36A-0228-481E-9AB6-9D5AFC776AB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B9BEA9F-CDDE-4675-896F-A777A8996686}" type="slidenum">
              <a:rPr lang="zh-TW" altLang="en-US" sz="1200">
                <a:solidFill>
                  <a:srgbClr val="EBF1DE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zh-TW" altLang="en-US" sz="1200">
              <a:solidFill>
                <a:srgbClr val="EBF1DE"/>
              </a:solidFill>
              <a:latin typeface="Arial Unicode MS" panose="020B0604020202020204" pitchFamily="34" charset="-120"/>
              <a:ea typeface="Arial Unicode MS" panose="020B0604020202020204" pitchFamily="34" charset="-12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D1F31BF-18ED-478A-A56F-E1CC309F4BDB}"/>
              </a:ext>
            </a:extLst>
          </p:cNvPr>
          <p:cNvSpPr/>
          <p:nvPr/>
        </p:nvSpPr>
        <p:spPr>
          <a:xfrm>
            <a:off x="2217738" y="4300538"/>
            <a:ext cx="431800" cy="43338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277E229-9992-46B8-8C69-0C11CA683157}"/>
              </a:ext>
            </a:extLst>
          </p:cNvPr>
          <p:cNvSpPr/>
          <p:nvPr/>
        </p:nvSpPr>
        <p:spPr>
          <a:xfrm>
            <a:off x="2794000" y="4300538"/>
            <a:ext cx="431800" cy="43338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26C7646-EFBF-4BAE-85B8-3B9C0CB31758}"/>
              </a:ext>
            </a:extLst>
          </p:cNvPr>
          <p:cNvSpPr/>
          <p:nvPr/>
        </p:nvSpPr>
        <p:spPr>
          <a:xfrm>
            <a:off x="3394075" y="4300538"/>
            <a:ext cx="431800" cy="43338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B39A36-1106-4CC3-8366-965546A193BF}"/>
              </a:ext>
            </a:extLst>
          </p:cNvPr>
          <p:cNvSpPr/>
          <p:nvPr/>
        </p:nvSpPr>
        <p:spPr>
          <a:xfrm>
            <a:off x="3995738" y="4300538"/>
            <a:ext cx="431800" cy="433387"/>
          </a:xfrm>
          <a:prstGeom prst="rect">
            <a:avLst/>
          </a:prstGeom>
          <a:solidFill>
            <a:srgbClr val="80F9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5B4C6E-436D-4FC3-8ECF-22E2AFFB9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7813" y="1563688"/>
            <a:ext cx="5975350" cy="1439862"/>
          </a:xfrm>
        </p:spPr>
        <p:txBody>
          <a:bodyPr/>
          <a:lstStyle/>
          <a:p>
            <a:pPr algn="ctr">
              <a:defRPr/>
            </a:pPr>
            <a:r>
              <a:rPr lang="en-US" altLang="zh-TW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Thank You</a:t>
            </a:r>
            <a:endParaRPr lang="zh-TW" altLang="en-US" sz="5400" dirty="0">
              <a:latin typeface="Verdana" panose="020B0604030504040204" pitchFamily="34" charset="0"/>
            </a:endParaRPr>
          </a:p>
        </p:txBody>
      </p:sp>
      <p:sp>
        <p:nvSpPr>
          <p:cNvPr id="13315" name="投影片編號版面配置區 1">
            <a:extLst>
              <a:ext uri="{FF2B5EF4-FFF2-40B4-BE49-F238E27FC236}">
                <a16:creationId xmlns:a16="http://schemas.microsoft.com/office/drawing/2014/main" id="{8ECE89E6-5FD8-4446-A3DD-EF8702CAB0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8604250" y="4845050"/>
            <a:ext cx="369888" cy="2746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rgbClr val="DDD9C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A5BCEC0-20AA-45F9-B6C7-A37A07F13463}" type="slidenum">
              <a:rPr lang="zh-TW" altLang="en-US" sz="1200">
                <a:solidFill>
                  <a:srgbClr val="0C322E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zh-TW" altLang="en-US" sz="1200">
              <a:solidFill>
                <a:srgbClr val="0C322E"/>
              </a:solidFill>
              <a:latin typeface="Arial Unicode MS" panose="020B0604020202020204" pitchFamily="34" charset="-120"/>
              <a:ea typeface="Arial Unicode MS" panose="020B0604020202020204" pitchFamily="34" charset="-120"/>
            </a:endParaRPr>
          </a:p>
        </p:txBody>
      </p:sp>
      <p:pic>
        <p:nvPicPr>
          <p:cNvPr id="13316" name="圖片 2">
            <a:extLst>
              <a:ext uri="{FF2B5EF4-FFF2-40B4-BE49-F238E27FC236}">
                <a16:creationId xmlns:a16="http://schemas.microsoft.com/office/drawing/2014/main" id="{0A28C7D0-02E4-4790-8090-5778B1C50B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987425"/>
            <a:ext cx="792163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深綠深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松翰暖橘</Template>
  <TotalTime>812</TotalTime>
  <Words>379</Words>
  <Application>Microsoft Office PowerPoint</Application>
  <PresentationFormat>如螢幕大小 (16:9)</PresentationFormat>
  <Paragraphs>109</Paragraphs>
  <Slides>14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0" baseType="lpstr">
      <vt:lpstr>Arial Unicode MS</vt:lpstr>
      <vt:lpstr>微軟正黑體</vt:lpstr>
      <vt:lpstr>Arial</vt:lpstr>
      <vt:lpstr>Calibri</vt:lpstr>
      <vt:lpstr>Verdana</vt:lpstr>
      <vt:lpstr>深綠深底</vt:lpstr>
      <vt:lpstr>8051 Example</vt:lpstr>
      <vt:lpstr>EXP 1: LED Blink</vt:lpstr>
      <vt:lpstr>EXP 2: 7-Segment Display</vt:lpstr>
      <vt:lpstr>EXP 3: Control LED by Buttons</vt:lpstr>
      <vt:lpstr>EXP 4: Increase Values by Buttons</vt:lpstr>
      <vt:lpstr>EXP 5: Display Key Value in Hex Form</vt:lpstr>
      <vt:lpstr>EXP 6: Countdown the Time</vt:lpstr>
      <vt:lpstr>EXP 7: Measure Voltage on Potentiometer</vt:lpstr>
      <vt:lpstr>EXP 8: Adjust Pitch of the Buzzer</vt:lpstr>
      <vt:lpstr>EXP 9: UART Transceiver</vt:lpstr>
      <vt:lpstr>EXP 10: R/W SPI Flash with Button Matrix</vt:lpstr>
      <vt:lpstr>EXP 11: R/W EEPROM with Button Matrix</vt:lpstr>
      <vt:lpstr>Core Competence</vt:lpstr>
      <vt:lpstr>Thank You</vt:lpstr>
    </vt:vector>
  </TitlesOfParts>
  <Company>Sonix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林彥伶 Ann</dc:creator>
  <cp:lastModifiedBy>廖明凱 Sam</cp:lastModifiedBy>
  <cp:revision>66</cp:revision>
  <dcterms:created xsi:type="dcterms:W3CDTF">2021-03-31T07:31:58Z</dcterms:created>
  <dcterms:modified xsi:type="dcterms:W3CDTF">2024-11-28T10:57:33Z</dcterms:modified>
</cp:coreProperties>
</file>