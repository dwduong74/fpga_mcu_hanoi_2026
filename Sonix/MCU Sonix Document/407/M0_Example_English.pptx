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rim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B11LziOdrpWk82Yk6OrdTfV3I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11" Type="http://schemas.openxmlformats.org/officeDocument/2006/relationships/slide" Target="slides/slide6.xml"/><Relationship Id="rId22" Type="http://schemas.openxmlformats.org/officeDocument/2006/relationships/font" Target="fonts/Arimo-boldItalic.fntdata"/><Relationship Id="rId10" Type="http://schemas.openxmlformats.org/officeDocument/2006/relationships/slide" Target="slides/slide5.xml"/><Relationship Id="rId21" Type="http://schemas.openxmlformats.org/officeDocument/2006/relationships/font" Target="fonts/Arim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0" name="Google Shape;1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封面投影片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2924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 txBox="1"/>
          <p:nvPr>
            <p:ph type="ctrTitle"/>
          </p:nvPr>
        </p:nvSpPr>
        <p:spPr>
          <a:xfrm>
            <a:off x="3059832" y="1491630"/>
            <a:ext cx="5398368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" type="subTitle"/>
          </p:nvPr>
        </p:nvSpPr>
        <p:spPr>
          <a:xfrm>
            <a:off x="3057600" y="2753592"/>
            <a:ext cx="5400600" cy="538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800"/>
              <a:buNone/>
              <a:defRPr sz="2800">
                <a:solidFill>
                  <a:srgbClr val="009999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" name="Google Shape;17;p15"/>
          <p:cNvSpPr txBox="1"/>
          <p:nvPr>
            <p:ph idx="10" type="dt"/>
          </p:nvPr>
        </p:nvSpPr>
        <p:spPr>
          <a:xfrm>
            <a:off x="4787900" y="3579813"/>
            <a:ext cx="1368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頁-有裝飾線">
  <p:cSld name="內頁-有裝飾線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/>
        </p:nvSpPr>
        <p:spPr>
          <a:xfrm>
            <a:off x="7812088" y="123825"/>
            <a:ext cx="12223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1" i="0" sz="1600" u="none" cap="none" strike="noStrike">
              <a:solidFill>
                <a:srgbClr val="00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513" y="874713"/>
            <a:ext cx="91440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6"/>
          <p:cNvSpPr txBox="1"/>
          <p:nvPr>
            <p:ph type="title"/>
          </p:nvPr>
        </p:nvSpPr>
        <p:spPr>
          <a:xfrm>
            <a:off x="457200" y="147414"/>
            <a:ext cx="54721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DDD9C3"/>
              </a:buClr>
              <a:buSzPts val="2200"/>
              <a:buChar char="•"/>
              <a:defRPr b="1" sz="2200"/>
            </a:lvl1pPr>
            <a:lvl2pPr indent="-349250" lvl="1" marL="914400" algn="l">
              <a:lnSpc>
                <a:spcPct val="150000"/>
              </a:lnSpc>
              <a:spcBef>
                <a:spcPts val="380"/>
              </a:spcBef>
              <a:spcAft>
                <a:spcPts val="0"/>
              </a:spcAft>
              <a:buClr>
                <a:srgbClr val="D6E3BC"/>
              </a:buClr>
              <a:buSzPts val="1900"/>
              <a:buChar char="–"/>
              <a:defRPr sz="1900">
                <a:solidFill>
                  <a:srgbClr val="D6E3BC"/>
                </a:solidFill>
              </a:defRPr>
            </a:lvl2pPr>
            <a:lvl3pPr indent="-323850" lvl="2" marL="13716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DDD9C3"/>
              </a:buClr>
              <a:buSzPts val="1500"/>
              <a:buChar char="•"/>
              <a:defRPr sz="1500"/>
            </a:lvl3pPr>
            <a:lvl4pPr indent="-304800" lvl="3" marL="182880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rgbClr val="D6E3BC"/>
              </a:buClr>
              <a:buSzPts val="1200"/>
              <a:buChar char="–"/>
              <a:defRPr sz="1200">
                <a:solidFill>
                  <a:srgbClr val="D6E3BC"/>
                </a:solidFill>
              </a:defRPr>
            </a:lvl4pPr>
            <a:lvl5pPr indent="-330200" lvl="4" marL="228600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DDD9C3"/>
              </a:buClr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頁尾">
  <p:cSld name="頁尾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/>
        </p:nvSpPr>
        <p:spPr>
          <a:xfrm>
            <a:off x="7812088" y="123825"/>
            <a:ext cx="10922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1" i="0" sz="14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7"/>
          <p:cNvSpPr txBox="1"/>
          <p:nvPr>
            <p:ph type="title"/>
          </p:nvPr>
        </p:nvSpPr>
        <p:spPr>
          <a:xfrm>
            <a:off x="1403648" y="1563638"/>
            <a:ext cx="5976664" cy="144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75688" y="4845050"/>
            <a:ext cx="369887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頁-無裝飾線">
  <p:cSld name="內頁-無裝飾線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/>
        </p:nvSpPr>
        <p:spPr>
          <a:xfrm>
            <a:off x="7812088" y="123825"/>
            <a:ext cx="12223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1" i="0" sz="1600" u="none" cap="none" strike="noStrike">
              <a:solidFill>
                <a:srgbClr val="00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147414"/>
            <a:ext cx="54721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Clr>
                <a:srgbClr val="DDD9C3"/>
              </a:buClr>
              <a:buSzPts val="2200"/>
              <a:buChar char="•"/>
              <a:defRPr b="1" sz="2200"/>
            </a:lvl1pPr>
            <a:lvl2pPr indent="-349250" lvl="1" marL="914400" algn="l">
              <a:lnSpc>
                <a:spcPct val="150000"/>
              </a:lnSpc>
              <a:spcBef>
                <a:spcPts val="380"/>
              </a:spcBef>
              <a:spcAft>
                <a:spcPts val="0"/>
              </a:spcAft>
              <a:buClr>
                <a:srgbClr val="DDD9C3"/>
              </a:buClr>
              <a:buSzPts val="1900"/>
              <a:buChar char="–"/>
              <a:defRPr sz="1900"/>
            </a:lvl2pPr>
            <a:lvl3pPr indent="-323850" lvl="2" marL="137160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DDD9C3"/>
              </a:buClr>
              <a:buSzPts val="1500"/>
              <a:buChar char="•"/>
              <a:defRPr sz="1500"/>
            </a:lvl3pPr>
            <a:lvl4pPr indent="-304800" lvl="3" marL="1828800" algn="l">
              <a:lnSpc>
                <a:spcPct val="150000"/>
              </a:lnSpc>
              <a:spcBef>
                <a:spcPts val="240"/>
              </a:spcBef>
              <a:spcAft>
                <a:spcPts val="0"/>
              </a:spcAft>
              <a:buClr>
                <a:srgbClr val="DDD9C3"/>
              </a:buClr>
              <a:buSzPts val="1200"/>
              <a:buChar char="–"/>
              <a:defRPr sz="1200"/>
            </a:lvl4pPr>
            <a:lvl5pPr indent="-330200" lvl="4" marL="228600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DDD9C3"/>
              </a:buClr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插頁" type="titleOnly">
  <p:cSld name="TITLE_ONLY">
    <p:bg>
      <p:bgPr>
        <a:solidFill>
          <a:srgbClr val="F3F1F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/>
        </p:nvSpPr>
        <p:spPr>
          <a:xfrm>
            <a:off x="539750" y="1203325"/>
            <a:ext cx="187166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5" name="Google Shape;3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525" y="0"/>
            <a:ext cx="41497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9"/>
          <p:cNvSpPr/>
          <p:nvPr/>
        </p:nvSpPr>
        <p:spPr>
          <a:xfrm flipH="1">
            <a:off x="8423275" y="3076575"/>
            <a:ext cx="720725" cy="2066925"/>
          </a:xfrm>
          <a:prstGeom prst="rtTriangle">
            <a:avLst/>
          </a:prstGeom>
          <a:solidFill>
            <a:srgbClr val="5FC0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9"/>
          <p:cNvSpPr txBox="1"/>
          <p:nvPr/>
        </p:nvSpPr>
        <p:spPr>
          <a:xfrm>
            <a:off x="7812088" y="123825"/>
            <a:ext cx="10922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1" i="0" sz="14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9"/>
          <p:cNvSpPr txBox="1"/>
          <p:nvPr>
            <p:ph type="title"/>
          </p:nvPr>
        </p:nvSpPr>
        <p:spPr>
          <a:xfrm>
            <a:off x="3167336" y="1923678"/>
            <a:ext cx="597666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C0C0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插頁-1">
  <p:cSld name="插頁-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/>
        </p:nvSpPr>
        <p:spPr>
          <a:xfrm>
            <a:off x="7812088" y="123825"/>
            <a:ext cx="12223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9999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1" i="0" sz="1600" u="none" cap="none" strike="noStrike">
              <a:solidFill>
                <a:srgbClr val="00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0"/>
          <p:cNvSpPr txBox="1"/>
          <p:nvPr>
            <p:ph type="title"/>
          </p:nvPr>
        </p:nvSpPr>
        <p:spPr>
          <a:xfrm>
            <a:off x="1187624" y="1851671"/>
            <a:ext cx="6264696" cy="144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DDD9C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984807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283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60375" y="195263"/>
            <a:ext cx="54721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FFFF8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FFFF8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FFFF8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FFFF8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rgbClr val="FFFF8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595959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DDD9C3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DDD9C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rgbClr val="DDD9C3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DDD9C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DDD9C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DDD9C3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DDD9C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DDD9C3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DDD9C3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>
            <p:ph type="ctrTitle"/>
          </p:nvPr>
        </p:nvSpPr>
        <p:spPr>
          <a:xfrm>
            <a:off x="3059113" y="1492250"/>
            <a:ext cx="5399087" cy="1101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Verdana"/>
                <a:ea typeface="Verdana"/>
                <a:cs typeface="Verdana"/>
                <a:sym typeface="Verdana"/>
              </a:rPr>
              <a:t>M0 Example</a:t>
            </a:r>
            <a:endParaRPr sz="4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" name="Google Shape;49;p1"/>
          <p:cNvSpPr txBox="1"/>
          <p:nvPr>
            <p:ph idx="1" type="subTitle"/>
          </p:nvPr>
        </p:nvSpPr>
        <p:spPr>
          <a:xfrm>
            <a:off x="3057525" y="2754313"/>
            <a:ext cx="5400675" cy="53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 txBox="1"/>
          <p:nvPr>
            <p:ph idx="10" type="dt"/>
          </p:nvPr>
        </p:nvSpPr>
        <p:spPr>
          <a:xfrm>
            <a:off x="4787900" y="3579813"/>
            <a:ext cx="13684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2024/11/14</a:t>
            </a:r>
            <a:endParaRPr b="0" i="0" sz="18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2450" y="4803775"/>
            <a:ext cx="85725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457200" y="147638"/>
            <a:ext cx="54721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1: LED Blink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Call delay function in main loop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Use GPIO to make LED blink</a:t>
            </a:r>
            <a:endParaRPr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(Output)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WDT</a:t>
            </a:r>
            <a:endParaRPr/>
          </a:p>
        </p:txBody>
      </p:sp>
      <p:sp>
        <p:nvSpPr>
          <p:cNvPr id="59" name="Google Shape;59;p2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457200" y="147638"/>
            <a:ext cx="54721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2: 7-Segment Display</a:t>
            </a:r>
            <a:endParaRPr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Call delay function in main loop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Show 3210 with 7-Segment Display</a:t>
            </a:r>
            <a:endParaRPr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(Output)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WDT</a:t>
            </a:r>
            <a:endParaRPr/>
          </a:p>
        </p:txBody>
      </p:sp>
      <p:sp>
        <p:nvSpPr>
          <p:cNvPr id="67" name="Google Shape;67;p3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457200" y="147638"/>
            <a:ext cx="5472113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3: Control LED by Buttons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74650" y="1247250"/>
            <a:ext cx="8229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Key Scan Mechanism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Switch LED On/Off with key pressed</a:t>
            </a:r>
            <a:endParaRPr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(Input/Output)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WDT</a:t>
            </a:r>
            <a:endParaRPr/>
          </a:p>
        </p:txBody>
      </p:sp>
      <p:sp>
        <p:nvSpPr>
          <p:cNvPr id="75" name="Google Shape;75;p4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4: Increase Values by Buttons</a:t>
            </a:r>
            <a:endParaRPr/>
          </a:p>
        </p:txBody>
      </p:sp>
      <p:sp>
        <p:nvSpPr>
          <p:cNvPr id="82" name="Google Shape;82;p5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Value adds 1 when the key is pressed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Display the value with 7-segment display</a:t>
            </a:r>
            <a:endParaRPr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(Output)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WDT</a:t>
            </a:r>
            <a:endParaRPr/>
          </a:p>
        </p:txBody>
      </p:sp>
      <p:sp>
        <p:nvSpPr>
          <p:cNvPr id="83" name="Google Shape;83;p5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5: Display Key Value in Hex Form</a:t>
            </a:r>
            <a:endParaRPr/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Display the Key value in Hex form with 7-segment display</a:t>
            </a:r>
            <a:endParaRPr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(Output)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WDT</a:t>
            </a:r>
            <a:endParaRPr/>
          </a:p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6: Countdown the Time</a:t>
            </a:r>
            <a:endParaRPr/>
          </a:p>
        </p:txBody>
      </p:sp>
      <p:sp>
        <p:nvSpPr>
          <p:cNvPr id="98" name="Google Shape;98;p7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 sz="2900">
                <a:latin typeface="Verdana"/>
                <a:ea typeface="Verdana"/>
                <a:cs typeface="Verdana"/>
                <a:sym typeface="Verdana"/>
              </a:rPr>
              <a:t>Enable CT16B0 1-ms interrupt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6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 sz="2900">
                <a:latin typeface="Verdana"/>
                <a:ea typeface="Verdana"/>
                <a:cs typeface="Verdana"/>
                <a:sym typeface="Verdana"/>
              </a:rPr>
              <a:t>Counter value minus 1 in main loop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6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 sz="2900">
                <a:latin typeface="Verdana"/>
                <a:ea typeface="Verdana"/>
                <a:cs typeface="Verdana"/>
                <a:sym typeface="Verdana"/>
              </a:rPr>
              <a:t>Display the counter value with 7-segment display</a:t>
            </a:r>
            <a:endParaRPr/>
          </a:p>
          <a:p>
            <a:pPr indent="-213995" lvl="0" marL="342900" rtl="0" algn="l">
              <a:lnSpc>
                <a:spcPct val="150000"/>
              </a:lnSpc>
              <a:spcBef>
                <a:spcPts val="406"/>
              </a:spcBef>
              <a:spcAft>
                <a:spcPts val="0"/>
              </a:spcAft>
              <a:buClr>
                <a:srgbClr val="DDD9C3"/>
              </a:buClr>
              <a:buSzPct val="100000"/>
              <a:buNone/>
            </a:pPr>
            <a:r>
              <a:t/>
            </a:r>
            <a:endParaRPr sz="29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6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 sz="29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4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 sz="26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(Output)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4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 sz="26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WDT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4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 sz="26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CT16B0 (1ms Interrupt)</a:t>
            </a:r>
            <a:endParaRPr/>
          </a:p>
        </p:txBody>
      </p:sp>
      <p:sp>
        <p:nvSpPr>
          <p:cNvPr id="99" name="Google Shape;99;p7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7: Measure Voltage on Potentiometer</a:t>
            </a:r>
            <a:endParaRPr/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Display the ADC measured value with 7-segment display</a:t>
            </a:r>
            <a:endParaRPr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(Output)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WDT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ADC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CT16B0 (1ms Interrupt)</a:t>
            </a:r>
            <a:endParaRPr/>
          </a:p>
        </p:txBody>
      </p:sp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8: Adjust Pitch of the Buzzer</a:t>
            </a:r>
            <a:endParaRPr/>
          </a:p>
        </p:txBody>
      </p:sp>
      <p:sp>
        <p:nvSpPr>
          <p:cNvPr id="114" name="Google Shape;114;p9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Adjust the pitch of the buzzer with Buttons</a:t>
            </a:r>
            <a:endParaRPr/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(Input)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CT16B0 PWM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CT16B1 (1ms Interrupt)</a:t>
            </a:r>
            <a:endParaRPr/>
          </a:p>
        </p:txBody>
      </p:sp>
      <p:sp>
        <p:nvSpPr>
          <p:cNvPr id="115" name="Google Shape;115;p9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16" name="Google Shape;1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9890" y="1923678"/>
            <a:ext cx="3865562" cy="281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9: UART Transceiver</a:t>
            </a:r>
            <a:endParaRPr/>
          </a:p>
        </p:txBody>
      </p:sp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UART 8-bit data/1 STOP bit/Odd parity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Baud rate 115200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Receive then Transmit the same character 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215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DDD9C3"/>
              </a:buClr>
              <a:buSzPts val="2000"/>
              <a:buChar char="•"/>
            </a:pPr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80F9FC"/>
              </a:buClr>
              <a:buSzPts val="18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UART</a:t>
            </a:r>
            <a:endParaRPr/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10: R/W EEPROM with Button Matrix</a:t>
            </a:r>
            <a:endParaRPr/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Enter memory address to read/write EEPROM with Button matrix.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7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Read/Write value 0x80</a:t>
            </a:r>
            <a:endParaRPr/>
          </a:p>
          <a:p>
            <a:pPr indent="-213678" lvl="0" marL="342900" rtl="0" algn="l">
              <a:lnSpc>
                <a:spcPct val="150000"/>
              </a:lnSpc>
              <a:spcBef>
                <a:spcPts val="407"/>
              </a:spcBef>
              <a:spcAft>
                <a:spcPts val="0"/>
              </a:spcAft>
              <a:buClr>
                <a:srgbClr val="DDD9C3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7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82" lvl="1" marL="742950" rtl="0" algn="l">
              <a:lnSpc>
                <a:spcPct val="150000"/>
              </a:lnSpc>
              <a:spcBef>
                <a:spcPts val="351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(Input)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33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 sz="18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CT16B1 (1ms Interrupt)</a:t>
            </a:r>
            <a:endParaRPr/>
          </a:p>
          <a:p>
            <a:pPr indent="-285782" lvl="1" marL="742950" rtl="0" algn="l">
              <a:lnSpc>
                <a:spcPct val="150000"/>
              </a:lnSpc>
              <a:spcBef>
                <a:spcPts val="351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I2C (Master mode)</a:t>
            </a:r>
            <a:endParaRPr/>
          </a:p>
        </p:txBody>
      </p:sp>
      <p:sp>
        <p:nvSpPr>
          <p:cNvPr id="132" name="Google Shape;132;p11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33" name="Google Shape;13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850" y="1851670"/>
            <a:ext cx="39624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type="title"/>
          </p:nvPr>
        </p:nvSpPr>
        <p:spPr>
          <a:xfrm>
            <a:off x="457200" y="147638"/>
            <a:ext cx="764319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 11: R/W SPI Flash with Button Matrix</a:t>
            </a:r>
            <a:endParaRPr/>
          </a:p>
        </p:txBody>
      </p:sp>
      <p:sp>
        <p:nvSpPr>
          <p:cNvPr id="140" name="Google Shape;140;p12"/>
          <p:cNvSpPr txBox="1"/>
          <p:nvPr>
            <p:ph idx="1" type="body"/>
          </p:nvPr>
        </p:nvSpPr>
        <p:spPr>
          <a:xfrm>
            <a:off x="457200" y="1200150"/>
            <a:ext cx="8229600" cy="36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Enter memory address to read/write SPI Flash with Button matrix.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407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Read/Write value 0x80</a:t>
            </a:r>
            <a:endParaRPr/>
          </a:p>
          <a:p>
            <a:pPr indent="-213678" lvl="0" marL="342900" rtl="0" algn="l">
              <a:lnSpc>
                <a:spcPct val="150000"/>
              </a:lnSpc>
              <a:spcBef>
                <a:spcPts val="407"/>
              </a:spcBef>
              <a:spcAft>
                <a:spcPts val="0"/>
              </a:spcAft>
              <a:buClr>
                <a:srgbClr val="DDD9C3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407"/>
              </a:spcBef>
              <a:spcAft>
                <a:spcPts val="0"/>
              </a:spcAft>
              <a:buClr>
                <a:srgbClr val="DDD9C3"/>
              </a:buClr>
              <a:buSzPct val="1000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Interface</a:t>
            </a:r>
            <a:endParaRPr/>
          </a:p>
          <a:p>
            <a:pPr indent="-285782" lvl="1" marL="742950" rtl="0" algn="l">
              <a:lnSpc>
                <a:spcPct val="150000"/>
              </a:lnSpc>
              <a:spcBef>
                <a:spcPts val="351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GPIO (Input)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 sz="2000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CT16B1 (1ms Interrupt)</a:t>
            </a:r>
            <a:endParaRPr/>
          </a:p>
          <a:p>
            <a:pPr indent="-285782" lvl="1" marL="742950" rtl="0" algn="l">
              <a:lnSpc>
                <a:spcPct val="150000"/>
              </a:lnSpc>
              <a:spcBef>
                <a:spcPts val="351"/>
              </a:spcBef>
              <a:spcAft>
                <a:spcPts val="0"/>
              </a:spcAft>
              <a:buClr>
                <a:srgbClr val="80F9FC"/>
              </a:buClr>
              <a:buSzPct val="100000"/>
              <a:buChar char="–"/>
            </a:pPr>
            <a:r>
              <a:rPr lang="en-US">
                <a:solidFill>
                  <a:srgbClr val="80F9FC"/>
                </a:solidFill>
                <a:latin typeface="Verdana"/>
                <a:ea typeface="Verdana"/>
                <a:cs typeface="Verdana"/>
                <a:sym typeface="Verdana"/>
              </a:rPr>
              <a:t>SPI (Master mode 0)</a:t>
            </a:r>
            <a:endParaRPr/>
          </a:p>
        </p:txBody>
      </p:sp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BF1D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EBF1D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EBF1DE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1850" y="1851670"/>
            <a:ext cx="396240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1547813" y="1563688"/>
            <a:ext cx="5975350" cy="1439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sz="5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13"/>
          <p:cNvSpPr txBox="1"/>
          <p:nvPr>
            <p:ph idx="12" type="sldNum"/>
          </p:nvPr>
        </p:nvSpPr>
        <p:spPr>
          <a:xfrm>
            <a:off x="8604250" y="4845050"/>
            <a:ext cx="3698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C322E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C322E"/>
                </a:solidFill>
                <a:latin typeface="Arimo"/>
                <a:ea typeface="Arimo"/>
                <a:cs typeface="Arimo"/>
                <a:sym typeface="Arimo"/>
              </a:rPr>
              <a:t>‹#›</a:t>
            </a:fld>
            <a:endParaRPr b="0" i="0" sz="1200" u="none" cap="none" strike="noStrike">
              <a:solidFill>
                <a:srgbClr val="0C322E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49" name="Google Shape;1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987425"/>
            <a:ext cx="792163" cy="23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深綠深底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2021-03-31T07:31:58Z</dcterms:created>
  <dc:creator>林彥伶 Ann</dc:creator>
</cp:coreProperties>
</file>